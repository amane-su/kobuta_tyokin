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notesMasterIdLst>
    <p:notesMasterId r:id="rId42"/>
  </p:notesMasterIdLst>
  <p:sldIdLst>
    <p:sldId id="256" r:id="rId2"/>
    <p:sldId id="257" r:id="rId3"/>
    <p:sldId id="295" r:id="rId4"/>
    <p:sldId id="298" r:id="rId5"/>
    <p:sldId id="258" r:id="rId6"/>
    <p:sldId id="259" r:id="rId7"/>
    <p:sldId id="260" r:id="rId8"/>
    <p:sldId id="262" r:id="rId9"/>
    <p:sldId id="263" r:id="rId10"/>
    <p:sldId id="264" r:id="rId11"/>
    <p:sldId id="269" r:id="rId12"/>
    <p:sldId id="293" r:id="rId13"/>
    <p:sldId id="270" r:id="rId14"/>
    <p:sldId id="265" r:id="rId15"/>
    <p:sldId id="294" r:id="rId16"/>
    <p:sldId id="267" r:id="rId17"/>
    <p:sldId id="266" r:id="rId18"/>
    <p:sldId id="268" r:id="rId19"/>
    <p:sldId id="272" r:id="rId20"/>
    <p:sldId id="273" r:id="rId21"/>
    <p:sldId id="274" r:id="rId22"/>
    <p:sldId id="275" r:id="rId23"/>
    <p:sldId id="276" r:id="rId24"/>
    <p:sldId id="299" r:id="rId25"/>
    <p:sldId id="278" r:id="rId26"/>
    <p:sldId id="279" r:id="rId27"/>
    <p:sldId id="280" r:id="rId28"/>
    <p:sldId id="281" r:id="rId29"/>
    <p:sldId id="282" r:id="rId30"/>
    <p:sldId id="283" r:id="rId31"/>
    <p:sldId id="284" r:id="rId32"/>
    <p:sldId id="285" r:id="rId33"/>
    <p:sldId id="287" r:id="rId34"/>
    <p:sldId id="288" r:id="rId35"/>
    <p:sldId id="291" r:id="rId36"/>
    <p:sldId id="286" r:id="rId37"/>
    <p:sldId id="289" r:id="rId38"/>
    <p:sldId id="292" r:id="rId39"/>
    <p:sldId id="296" r:id="rId40"/>
    <p:sldId id="29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44" autoAdjust="0"/>
    <p:restoredTop sz="94671" autoAdjust="0"/>
  </p:normalViewPr>
  <p:slideViewPr>
    <p:cSldViewPr snapToGrid="0">
      <p:cViewPr varScale="1">
        <p:scale>
          <a:sx n="59" d="100"/>
          <a:sy n="59" d="100"/>
        </p:scale>
        <p:origin x="5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ja-JP" altLang="en-US"/>
              <a:t>貯金額</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Sheet1!$A$2:$A$15</c:f>
              <c:numCache>
                <c:formatCode>m"月"d"日"</c:formatCode>
                <c:ptCount val="14"/>
                <c:pt idx="0">
                  <c:v>45658</c:v>
                </c:pt>
                <c:pt idx="1">
                  <c:v>45660</c:v>
                </c:pt>
                <c:pt idx="2">
                  <c:v>45662</c:v>
                </c:pt>
                <c:pt idx="3">
                  <c:v>45665</c:v>
                </c:pt>
                <c:pt idx="4">
                  <c:v>45668</c:v>
                </c:pt>
                <c:pt idx="5">
                  <c:v>45669</c:v>
                </c:pt>
                <c:pt idx="6">
                  <c:v>45672</c:v>
                </c:pt>
                <c:pt idx="7">
                  <c:v>45674</c:v>
                </c:pt>
                <c:pt idx="8">
                  <c:v>45677</c:v>
                </c:pt>
                <c:pt idx="9">
                  <c:v>45679</c:v>
                </c:pt>
                <c:pt idx="10">
                  <c:v>45680</c:v>
                </c:pt>
                <c:pt idx="11">
                  <c:v>45682</c:v>
                </c:pt>
                <c:pt idx="12">
                  <c:v>45685</c:v>
                </c:pt>
                <c:pt idx="13">
                  <c:v>45687</c:v>
                </c:pt>
              </c:numCache>
            </c:numRef>
          </c:cat>
          <c:val>
            <c:numRef>
              <c:f>Sheet1!$B$2:$B$15</c:f>
              <c:numCache>
                <c:formatCode>General</c:formatCode>
                <c:ptCount val="14"/>
                <c:pt idx="0">
                  <c:v>500</c:v>
                </c:pt>
                <c:pt idx="1">
                  <c:v>600</c:v>
                </c:pt>
                <c:pt idx="2">
                  <c:v>800</c:v>
                </c:pt>
                <c:pt idx="3">
                  <c:v>1300</c:v>
                </c:pt>
                <c:pt idx="4">
                  <c:v>1500</c:v>
                </c:pt>
                <c:pt idx="5">
                  <c:v>1600</c:v>
                </c:pt>
                <c:pt idx="6">
                  <c:v>1900</c:v>
                </c:pt>
                <c:pt idx="7">
                  <c:v>2400</c:v>
                </c:pt>
                <c:pt idx="8">
                  <c:v>2900</c:v>
                </c:pt>
                <c:pt idx="9">
                  <c:v>3100</c:v>
                </c:pt>
                <c:pt idx="10">
                  <c:v>3300</c:v>
                </c:pt>
                <c:pt idx="11">
                  <c:v>4300</c:v>
                </c:pt>
                <c:pt idx="12">
                  <c:v>4500</c:v>
                </c:pt>
                <c:pt idx="13">
                  <c:v>5000</c:v>
                </c:pt>
              </c:numCache>
            </c:numRef>
          </c:val>
          <c:smooth val="0"/>
          <c:extLst>
            <c:ext xmlns:c16="http://schemas.microsoft.com/office/drawing/2014/chart" uri="{C3380CC4-5D6E-409C-BE32-E72D297353CC}">
              <c16:uniqueId val="{00000000-EA3F-45FD-AE02-10838EA00A6B}"/>
            </c:ext>
          </c:extLst>
        </c:ser>
        <c:dLbls>
          <c:showLegendKey val="0"/>
          <c:showVal val="0"/>
          <c:showCatName val="0"/>
          <c:showSerName val="0"/>
          <c:showPercent val="0"/>
          <c:showBubbleSize val="0"/>
        </c:dLbls>
        <c:marker val="1"/>
        <c:smooth val="0"/>
        <c:axId val="1386314752"/>
        <c:axId val="1565883408"/>
      </c:lineChart>
      <c:dateAx>
        <c:axId val="1386314752"/>
        <c:scaling>
          <c:orientation val="minMax"/>
        </c:scaling>
        <c:delete val="0"/>
        <c:axPos val="b"/>
        <c:numFmt formatCode="m&quot;月&quot;d&quot;日&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565883408"/>
        <c:crosses val="autoZero"/>
        <c:auto val="1"/>
        <c:lblOffset val="100"/>
        <c:baseTimeUnit val="days"/>
      </c:dateAx>
      <c:valAx>
        <c:axId val="15658834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13863147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E45F7-2B5B-4DD5-91DD-0357F6E927DF}" type="datetimeFigureOut">
              <a:rPr kumimoji="1" lang="ja-JP" altLang="en-US" smtClean="0"/>
              <a:t>2025/2/1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73B783-4966-49A8-A772-E04AE16E255F}" type="slidenum">
              <a:rPr kumimoji="1" lang="ja-JP" altLang="en-US" smtClean="0"/>
              <a:t>‹#›</a:t>
            </a:fld>
            <a:endParaRPr kumimoji="1" lang="ja-JP" altLang="en-US"/>
          </a:p>
        </p:txBody>
      </p:sp>
    </p:spTree>
    <p:extLst>
      <p:ext uri="{BB962C8B-B14F-4D97-AF65-F5344CB8AC3E}">
        <p14:creationId xmlns:p14="http://schemas.microsoft.com/office/powerpoint/2010/main" val="1319627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1</a:t>
            </a:fld>
            <a:endParaRPr kumimoji="1" lang="ja-JP" altLang="en-US"/>
          </a:p>
        </p:txBody>
      </p:sp>
    </p:spTree>
    <p:extLst>
      <p:ext uri="{BB962C8B-B14F-4D97-AF65-F5344CB8AC3E}">
        <p14:creationId xmlns:p14="http://schemas.microsoft.com/office/powerpoint/2010/main" val="2667230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2</a:t>
            </a:fld>
            <a:endParaRPr kumimoji="1" lang="ja-JP" altLang="en-US"/>
          </a:p>
        </p:txBody>
      </p:sp>
    </p:spTree>
    <p:extLst>
      <p:ext uri="{BB962C8B-B14F-4D97-AF65-F5344CB8AC3E}">
        <p14:creationId xmlns:p14="http://schemas.microsoft.com/office/powerpoint/2010/main" val="366598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貯金と育成をかけあわせ</a:t>
            </a:r>
            <a:endParaRPr kumimoji="1" lang="en-US" altLang="ja-JP" dirty="0"/>
          </a:p>
          <a:p>
            <a:r>
              <a:rPr kumimoji="1" lang="ja-JP" altLang="en-US" dirty="0"/>
              <a:t>アプリ名にもあるようにこぶたに貯金をするアプリです。</a:t>
            </a:r>
            <a:endParaRPr kumimoji="1" lang="en-US" altLang="ja-JP" dirty="0"/>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3</a:t>
            </a:fld>
            <a:endParaRPr kumimoji="1" lang="ja-JP" altLang="en-US"/>
          </a:p>
        </p:txBody>
      </p:sp>
    </p:spTree>
    <p:extLst>
      <p:ext uri="{BB962C8B-B14F-4D97-AF65-F5344CB8AC3E}">
        <p14:creationId xmlns:p14="http://schemas.microsoft.com/office/powerpoint/2010/main" val="1664206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7</a:t>
            </a:fld>
            <a:endParaRPr kumimoji="1" lang="ja-JP" altLang="en-US"/>
          </a:p>
        </p:txBody>
      </p:sp>
    </p:spTree>
    <p:extLst>
      <p:ext uri="{BB962C8B-B14F-4D97-AF65-F5344CB8AC3E}">
        <p14:creationId xmlns:p14="http://schemas.microsoft.com/office/powerpoint/2010/main" val="2297860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実際、私たちの身の回りでもサークルの合宿に行きたいがお金がない</a:t>
            </a:r>
            <a:endParaRPr kumimoji="1" lang="en-US" altLang="ja-JP" dirty="0"/>
          </a:p>
          <a:p>
            <a:r>
              <a:rPr kumimoji="1" lang="ja-JP" altLang="en-US" dirty="0"/>
              <a:t>欲しいものがあるけれど貯金がなくて買えない</a:t>
            </a:r>
            <a:endParaRPr kumimoji="1" lang="en-US" altLang="ja-JP" dirty="0"/>
          </a:p>
          <a:p>
            <a:r>
              <a:rPr kumimoji="1" lang="ja-JP" altLang="en-US" dirty="0"/>
              <a:t>という状況の人が多いという背景から、このアプリの開発に至りました</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8</a:t>
            </a:fld>
            <a:endParaRPr kumimoji="1" lang="ja-JP" altLang="en-US"/>
          </a:p>
        </p:txBody>
      </p:sp>
    </p:spTree>
    <p:extLst>
      <p:ext uri="{BB962C8B-B14F-4D97-AF65-F5344CB8AC3E}">
        <p14:creationId xmlns:p14="http://schemas.microsoft.com/office/powerpoint/2010/main" val="1129050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アプリの説明、強み要相談</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10</a:t>
            </a:fld>
            <a:endParaRPr kumimoji="1" lang="ja-JP" altLang="en-US"/>
          </a:p>
        </p:txBody>
      </p:sp>
    </p:spTree>
    <p:extLst>
      <p:ext uri="{BB962C8B-B14F-4D97-AF65-F5344CB8AC3E}">
        <p14:creationId xmlns:p14="http://schemas.microsoft.com/office/powerpoint/2010/main" val="18537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貯金額が</a:t>
            </a:r>
            <a:r>
              <a:rPr kumimoji="1" lang="en-US" altLang="ja-JP" dirty="0"/>
              <a:t>0</a:t>
            </a:r>
            <a:r>
              <a:rPr kumimoji="1" lang="ja-JP" altLang="en-US" dirty="0"/>
              <a:t>から貯金するたびに増加していくイメージを折れ線グラフで表現したい</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11</a:t>
            </a:fld>
            <a:endParaRPr kumimoji="1" lang="ja-JP" altLang="en-US"/>
          </a:p>
        </p:txBody>
      </p:sp>
    </p:spTree>
    <p:extLst>
      <p:ext uri="{BB962C8B-B14F-4D97-AF65-F5344CB8AC3E}">
        <p14:creationId xmlns:p14="http://schemas.microsoft.com/office/powerpoint/2010/main" val="359714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自分が担当した機能について詳しく書き込み</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14</a:t>
            </a:fld>
            <a:endParaRPr kumimoji="1" lang="ja-JP" altLang="en-US"/>
          </a:p>
        </p:txBody>
      </p:sp>
    </p:spTree>
    <p:extLst>
      <p:ext uri="{BB962C8B-B14F-4D97-AF65-F5344CB8AC3E}">
        <p14:creationId xmlns:p14="http://schemas.microsoft.com/office/powerpoint/2010/main" val="3528855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動画を流す</a:t>
            </a:r>
            <a:endParaRPr kumimoji="1" lang="en-US" altLang="ja-JP" dirty="0"/>
          </a:p>
          <a:p>
            <a:r>
              <a:rPr kumimoji="1" lang="ja-JP" altLang="en-US" dirty="0"/>
              <a:t>↑この中で使い方の説明でもいいかも？と思いました</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26</a:t>
            </a:fld>
            <a:endParaRPr kumimoji="1" lang="ja-JP" altLang="en-US"/>
          </a:p>
        </p:txBody>
      </p:sp>
    </p:spTree>
    <p:extLst>
      <p:ext uri="{BB962C8B-B14F-4D97-AF65-F5344CB8AC3E}">
        <p14:creationId xmlns:p14="http://schemas.microsoft.com/office/powerpoint/2010/main" val="2316598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内容を増やす</a:t>
            </a:r>
          </a:p>
        </p:txBody>
      </p:sp>
      <p:sp>
        <p:nvSpPr>
          <p:cNvPr id="4" name="スライド番号プレースホルダー 3"/>
          <p:cNvSpPr>
            <a:spLocks noGrp="1"/>
          </p:cNvSpPr>
          <p:nvPr>
            <p:ph type="sldNum" sz="quarter" idx="5"/>
          </p:nvPr>
        </p:nvSpPr>
        <p:spPr/>
        <p:txBody>
          <a:bodyPr/>
          <a:lstStyle/>
          <a:p>
            <a:fld id="{7773B783-4966-49A8-A772-E04AE16E255F}" type="slidenum">
              <a:rPr kumimoji="1" lang="ja-JP" altLang="en-US" smtClean="0"/>
              <a:t>33</a:t>
            </a:fld>
            <a:endParaRPr kumimoji="1" lang="ja-JP" altLang="en-US"/>
          </a:p>
        </p:txBody>
      </p:sp>
    </p:spTree>
    <p:extLst>
      <p:ext uri="{BB962C8B-B14F-4D97-AF65-F5344CB8AC3E}">
        <p14:creationId xmlns:p14="http://schemas.microsoft.com/office/powerpoint/2010/main" val="22218715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2/1/2025</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2/1/2025</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1CF131DD-A141-4471-BCF9-C6073EDD7E20}" type="datetimeFigureOut">
              <a:rPr lang="en-US" dirty="0"/>
              <a:t>2/1/2025</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2/1/2025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2/1/2025</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kumimoji="1"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F7471A-7C68-F17F-476F-2D4E5025C815}"/>
              </a:ext>
            </a:extLst>
          </p:cNvPr>
          <p:cNvSpPr>
            <a:spLocks noGrp="1"/>
          </p:cNvSpPr>
          <p:nvPr>
            <p:ph type="ctrTitle"/>
          </p:nvPr>
        </p:nvSpPr>
        <p:spPr/>
        <p:txBody>
          <a:bodyPr/>
          <a:lstStyle/>
          <a:p>
            <a:r>
              <a:rPr kumimoji="1" lang="ja-JP" altLang="en-US" dirty="0"/>
              <a:t>成果発表</a:t>
            </a:r>
          </a:p>
        </p:txBody>
      </p:sp>
      <p:sp>
        <p:nvSpPr>
          <p:cNvPr id="3" name="字幕 2">
            <a:extLst>
              <a:ext uri="{FF2B5EF4-FFF2-40B4-BE49-F238E27FC236}">
                <a16:creationId xmlns:a16="http://schemas.microsoft.com/office/drawing/2014/main" id="{7D0A5477-F4F1-BBEC-F2E9-B0D1A7A3CDEC}"/>
              </a:ext>
            </a:extLst>
          </p:cNvPr>
          <p:cNvSpPr>
            <a:spLocks noGrp="1"/>
          </p:cNvSpPr>
          <p:nvPr>
            <p:ph type="subTitle" idx="1"/>
          </p:nvPr>
        </p:nvSpPr>
        <p:spPr/>
        <p:txBody>
          <a:bodyPr/>
          <a:lstStyle/>
          <a:p>
            <a:r>
              <a:rPr lang="ja-JP" altLang="en-US" dirty="0"/>
              <a:t>チーム</a:t>
            </a:r>
            <a:r>
              <a:rPr lang="en-US" altLang="ja-JP" dirty="0"/>
              <a:t>G “Glow-up Tech!”</a:t>
            </a:r>
            <a:endParaRPr kumimoji="1" lang="ja-JP" altLang="en-US" dirty="0"/>
          </a:p>
        </p:txBody>
      </p:sp>
    </p:spTree>
    <p:extLst>
      <p:ext uri="{BB962C8B-B14F-4D97-AF65-F5344CB8AC3E}">
        <p14:creationId xmlns:p14="http://schemas.microsoft.com/office/powerpoint/2010/main" val="4037598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79EFAE-9DCA-F079-A318-8AC2E0920D30}"/>
              </a:ext>
            </a:extLst>
          </p:cNvPr>
          <p:cNvSpPr>
            <a:spLocks noGrp="1"/>
          </p:cNvSpPr>
          <p:nvPr>
            <p:ph type="title"/>
          </p:nvPr>
        </p:nvSpPr>
        <p:spPr>
          <a:xfrm>
            <a:off x="943429" y="1208080"/>
            <a:ext cx="10736071" cy="2587752"/>
          </a:xfrm>
        </p:spPr>
        <p:txBody>
          <a:bodyPr/>
          <a:lstStyle/>
          <a:p>
            <a:r>
              <a:rPr kumimoji="1" lang="ja-JP" altLang="en-US" sz="6600" dirty="0"/>
              <a:t>アプリ名「こぶた貯金」</a:t>
            </a:r>
          </a:p>
        </p:txBody>
      </p:sp>
      <p:sp>
        <p:nvSpPr>
          <p:cNvPr id="3" name="テキスト プレースホルダー 2">
            <a:extLst>
              <a:ext uri="{FF2B5EF4-FFF2-40B4-BE49-F238E27FC236}">
                <a16:creationId xmlns:a16="http://schemas.microsoft.com/office/drawing/2014/main" id="{67A2EC5B-02CA-F770-01A4-D38B45319DF3}"/>
              </a:ext>
            </a:extLst>
          </p:cNvPr>
          <p:cNvSpPr>
            <a:spLocks noGrp="1"/>
          </p:cNvSpPr>
          <p:nvPr>
            <p:ph type="body" idx="1"/>
          </p:nvPr>
        </p:nvSpPr>
        <p:spPr/>
        <p:txBody>
          <a:bodyPr/>
          <a:lstStyle/>
          <a:p>
            <a:endParaRPr kumimoji="1" lang="ja-JP" altLang="en-US"/>
          </a:p>
        </p:txBody>
      </p:sp>
      <p:pic>
        <p:nvPicPr>
          <p:cNvPr id="4" name="図 3">
            <a:extLst>
              <a:ext uri="{FF2B5EF4-FFF2-40B4-BE49-F238E27FC236}">
                <a16:creationId xmlns:a16="http://schemas.microsoft.com/office/drawing/2014/main" id="{56EB18BB-678E-EC67-CDAA-625A1A21C354}"/>
              </a:ext>
            </a:extLst>
          </p:cNvPr>
          <p:cNvPicPr>
            <a:picLocks noChangeAspect="1"/>
          </p:cNvPicPr>
          <p:nvPr/>
        </p:nvPicPr>
        <p:blipFill>
          <a:blip r:embed="rId3">
            <a:clrChange>
              <a:clrFrom>
                <a:srgbClr val="FEF7FF"/>
              </a:clrFrom>
              <a:clrTo>
                <a:srgbClr val="FEF7FF">
                  <a:alpha val="0"/>
                </a:srgbClr>
              </a:clrTo>
            </a:clrChange>
          </a:blip>
          <a:stretch>
            <a:fillRect/>
          </a:stretch>
        </p:blipFill>
        <p:spPr>
          <a:xfrm>
            <a:off x="4867436" y="2909602"/>
            <a:ext cx="2457128" cy="2452802"/>
          </a:xfrm>
          <a:prstGeom prst="rect">
            <a:avLst/>
          </a:prstGeom>
        </p:spPr>
      </p:pic>
    </p:spTree>
    <p:extLst>
      <p:ext uri="{BB962C8B-B14F-4D97-AF65-F5344CB8AC3E}">
        <p14:creationId xmlns:p14="http://schemas.microsoft.com/office/powerpoint/2010/main" val="388617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26D8A-FF10-D50D-8881-427C88EA9A4B}"/>
              </a:ext>
            </a:extLst>
          </p:cNvPr>
          <p:cNvSpPr>
            <a:spLocks noGrp="1"/>
          </p:cNvSpPr>
          <p:nvPr>
            <p:ph type="title"/>
          </p:nvPr>
        </p:nvSpPr>
        <p:spPr/>
        <p:txBody>
          <a:bodyPr/>
          <a:lstStyle/>
          <a:p>
            <a:r>
              <a:rPr kumimoji="1" lang="ja-JP" altLang="en-US" dirty="0"/>
              <a:t>貯金</a:t>
            </a:r>
            <a:r>
              <a:rPr kumimoji="1" lang="en-US" altLang="ja-JP" dirty="0"/>
              <a:t>×</a:t>
            </a:r>
            <a:r>
              <a:rPr kumimoji="1" lang="ja-JP" altLang="en-US" dirty="0"/>
              <a:t>育成</a:t>
            </a:r>
          </a:p>
        </p:txBody>
      </p:sp>
      <p:sp>
        <p:nvSpPr>
          <p:cNvPr id="3" name="テキスト プレースホルダー 2">
            <a:extLst>
              <a:ext uri="{FF2B5EF4-FFF2-40B4-BE49-F238E27FC236}">
                <a16:creationId xmlns:a16="http://schemas.microsoft.com/office/drawing/2014/main" id="{C7471175-BCA3-7631-222F-7A3B3E6E620E}"/>
              </a:ext>
            </a:extLst>
          </p:cNvPr>
          <p:cNvSpPr>
            <a:spLocks noGrp="1"/>
          </p:cNvSpPr>
          <p:nvPr>
            <p:ph type="body" idx="1"/>
          </p:nvPr>
        </p:nvSpPr>
        <p:spPr/>
        <p:txBody>
          <a:bodyPr/>
          <a:lstStyle/>
          <a:p>
            <a:endParaRPr kumimoji="1" lang="ja-JP" altLang="en-US"/>
          </a:p>
        </p:txBody>
      </p:sp>
      <p:pic>
        <p:nvPicPr>
          <p:cNvPr id="5" name="図 4">
            <a:extLst>
              <a:ext uri="{FF2B5EF4-FFF2-40B4-BE49-F238E27FC236}">
                <a16:creationId xmlns:a16="http://schemas.microsoft.com/office/drawing/2014/main" id="{E26736EC-F4BD-B258-8808-527C1C750A6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327989" y="-1170098"/>
            <a:ext cx="4790261" cy="6858000"/>
          </a:xfrm>
          <a:prstGeom prst="rect">
            <a:avLst/>
          </a:prstGeom>
        </p:spPr>
      </p:pic>
      <p:pic>
        <p:nvPicPr>
          <p:cNvPr id="7" name="図 6">
            <a:extLst>
              <a:ext uri="{FF2B5EF4-FFF2-40B4-BE49-F238E27FC236}">
                <a16:creationId xmlns:a16="http://schemas.microsoft.com/office/drawing/2014/main" id="{34B29533-875E-FFF3-8F88-9130BB27DDA3}"/>
              </a:ext>
            </a:extLst>
          </p:cNvPr>
          <p:cNvPicPr>
            <a:picLocks noChangeAspect="1"/>
          </p:cNvPicPr>
          <p:nvPr/>
        </p:nvPicPr>
        <p:blipFill>
          <a:blip r:embed="rId4"/>
          <a:stretch>
            <a:fillRect/>
          </a:stretch>
        </p:blipFill>
        <p:spPr>
          <a:xfrm>
            <a:off x="1691640" y="1485553"/>
            <a:ext cx="3229753" cy="1338986"/>
          </a:xfrm>
          <a:prstGeom prst="rect">
            <a:avLst/>
          </a:prstGeom>
        </p:spPr>
      </p:pic>
    </p:spTree>
    <p:extLst>
      <p:ext uri="{BB962C8B-B14F-4D97-AF65-F5344CB8AC3E}">
        <p14:creationId xmlns:p14="http://schemas.microsoft.com/office/powerpoint/2010/main" val="22809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18DD79-2EEB-C4A1-82CD-4019B45FB68A}"/>
              </a:ext>
            </a:extLst>
          </p:cNvPr>
          <p:cNvSpPr>
            <a:spLocks noGrp="1"/>
          </p:cNvSpPr>
          <p:nvPr>
            <p:ph type="title"/>
          </p:nvPr>
        </p:nvSpPr>
        <p:spPr/>
        <p:txBody>
          <a:bodyPr/>
          <a:lstStyle/>
          <a:p>
            <a:r>
              <a:rPr kumimoji="1" lang="ja-JP" altLang="en-US" dirty="0"/>
              <a:t>こぶた貯金の特徴</a:t>
            </a:r>
          </a:p>
        </p:txBody>
      </p:sp>
      <p:sp>
        <p:nvSpPr>
          <p:cNvPr id="3" name="コンテンツ プレースホルダー 2">
            <a:extLst>
              <a:ext uri="{FF2B5EF4-FFF2-40B4-BE49-F238E27FC236}">
                <a16:creationId xmlns:a16="http://schemas.microsoft.com/office/drawing/2014/main" id="{D5374BC7-D9EF-0AAE-FD49-DF42CB9E9C0C}"/>
              </a:ext>
            </a:extLst>
          </p:cNvPr>
          <p:cNvSpPr>
            <a:spLocks noGrp="1"/>
          </p:cNvSpPr>
          <p:nvPr>
            <p:ph idx="1"/>
          </p:nvPr>
        </p:nvSpPr>
        <p:spPr/>
        <p:txBody>
          <a:bodyPr>
            <a:normAutofit/>
          </a:bodyPr>
          <a:lstStyle/>
          <a:p>
            <a:r>
              <a:rPr kumimoji="1" lang="ja-JP" altLang="en-US" sz="2800" dirty="0"/>
              <a:t>こぶたの成長で貯金を実感できる</a:t>
            </a:r>
            <a:endParaRPr kumimoji="1" lang="en-US" altLang="ja-JP" sz="2800" dirty="0"/>
          </a:p>
          <a:p>
            <a:endParaRPr lang="en-US" altLang="ja-JP" sz="2800" dirty="0"/>
          </a:p>
          <a:p>
            <a:r>
              <a:rPr kumimoji="1" lang="ja-JP" altLang="en-US" sz="2800" dirty="0"/>
              <a:t>着せ替え機能・おしゃべり機能でモチベーションがあがる</a:t>
            </a:r>
            <a:endParaRPr kumimoji="1" lang="en-US" altLang="ja-JP" sz="2800" dirty="0"/>
          </a:p>
          <a:p>
            <a:endParaRPr lang="en-US" altLang="ja-JP" sz="2800" dirty="0"/>
          </a:p>
          <a:p>
            <a:r>
              <a:rPr kumimoji="1" lang="ja-JP" altLang="en-US" sz="2800" dirty="0"/>
              <a:t>グラフで貯金額の増加を可視化</a:t>
            </a:r>
            <a:endParaRPr kumimoji="1" lang="en-US" altLang="ja-JP" sz="2800" dirty="0"/>
          </a:p>
          <a:p>
            <a:endParaRPr lang="en-US" altLang="ja-JP" sz="2800" dirty="0"/>
          </a:p>
          <a:p>
            <a:endParaRPr kumimoji="1" lang="en-US" altLang="ja-JP" sz="2400" dirty="0"/>
          </a:p>
          <a:p>
            <a:endParaRPr lang="en-US" altLang="ja-JP" sz="2400" dirty="0"/>
          </a:p>
          <a:p>
            <a:endParaRPr kumimoji="1" lang="ja-JP" altLang="en-US" sz="2400" dirty="0"/>
          </a:p>
        </p:txBody>
      </p:sp>
      <p:pic>
        <p:nvPicPr>
          <p:cNvPr id="5" name="図 4">
            <a:extLst>
              <a:ext uri="{FF2B5EF4-FFF2-40B4-BE49-F238E27FC236}">
                <a16:creationId xmlns:a16="http://schemas.microsoft.com/office/drawing/2014/main" id="{AF554C27-8E3F-E8BD-94EE-93575AC7289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177620" y="137160"/>
            <a:ext cx="4790261" cy="6858000"/>
          </a:xfrm>
          <a:prstGeom prst="rect">
            <a:avLst/>
          </a:prstGeom>
        </p:spPr>
      </p:pic>
      <p:pic>
        <p:nvPicPr>
          <p:cNvPr id="7" name="図 6">
            <a:extLst>
              <a:ext uri="{FF2B5EF4-FFF2-40B4-BE49-F238E27FC236}">
                <a16:creationId xmlns:a16="http://schemas.microsoft.com/office/drawing/2014/main" id="{CC54FABD-C246-EC3D-7919-0FD7C58CC0F2}"/>
              </a:ext>
            </a:extLst>
          </p:cNvPr>
          <p:cNvPicPr>
            <a:picLocks noChangeAspect="1"/>
          </p:cNvPicPr>
          <p:nvPr/>
        </p:nvPicPr>
        <p:blipFill>
          <a:blip r:embed="rId3"/>
          <a:stretch>
            <a:fillRect/>
          </a:stretch>
        </p:blipFill>
        <p:spPr>
          <a:xfrm>
            <a:off x="7894320" y="3657600"/>
            <a:ext cx="2286000" cy="1714500"/>
          </a:xfrm>
          <a:prstGeom prst="rect">
            <a:avLst/>
          </a:prstGeom>
        </p:spPr>
      </p:pic>
      <p:sp>
        <p:nvSpPr>
          <p:cNvPr id="8" name="テキスト ボックス 7">
            <a:extLst>
              <a:ext uri="{FF2B5EF4-FFF2-40B4-BE49-F238E27FC236}">
                <a16:creationId xmlns:a16="http://schemas.microsoft.com/office/drawing/2014/main" id="{213283B2-30E3-2C7A-8050-4B3E32FC305D}"/>
              </a:ext>
            </a:extLst>
          </p:cNvPr>
          <p:cNvSpPr txBox="1"/>
          <p:nvPr/>
        </p:nvSpPr>
        <p:spPr>
          <a:xfrm>
            <a:off x="8367906" y="4330184"/>
            <a:ext cx="1338828" cy="369332"/>
          </a:xfrm>
          <a:prstGeom prst="rect">
            <a:avLst/>
          </a:prstGeom>
          <a:noFill/>
        </p:spPr>
        <p:txBody>
          <a:bodyPr wrap="none" rtlCol="0">
            <a:spAutoFit/>
          </a:bodyPr>
          <a:lstStyle/>
          <a:p>
            <a:r>
              <a:rPr kumimoji="1" lang="ja-JP" altLang="en-US" dirty="0"/>
              <a:t>頑張るブー</a:t>
            </a:r>
          </a:p>
        </p:txBody>
      </p:sp>
    </p:spTree>
    <p:extLst>
      <p:ext uri="{BB962C8B-B14F-4D97-AF65-F5344CB8AC3E}">
        <p14:creationId xmlns:p14="http://schemas.microsoft.com/office/powerpoint/2010/main" val="2337076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38BB80-E9EA-7940-CC95-C5C7668902BE}"/>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FDF6A714-31AA-D946-F062-4D441D0BA165}"/>
              </a:ext>
            </a:extLst>
          </p:cNvPr>
          <p:cNvSpPr>
            <a:spLocks noGrp="1"/>
          </p:cNvSpPr>
          <p:nvPr>
            <p:ph idx="1"/>
          </p:nvPr>
        </p:nvSpPr>
        <p:spPr/>
        <p:txBody>
          <a:bodyPr>
            <a:normAutofit/>
          </a:bodyPr>
          <a:lstStyle/>
          <a:p>
            <a:r>
              <a:rPr kumimoji="1" lang="ja-JP" altLang="en-US" sz="2800" dirty="0"/>
              <a:t>想定利用者</a:t>
            </a:r>
            <a:endParaRPr kumimoji="1" lang="en-US" altLang="ja-JP" sz="2800" dirty="0"/>
          </a:p>
          <a:p>
            <a:r>
              <a:rPr lang="ja-JP" altLang="en-US" sz="2800" dirty="0"/>
              <a:t>アプリ概要</a:t>
            </a:r>
            <a:endParaRPr lang="en-US" altLang="ja-JP" sz="2800" dirty="0"/>
          </a:p>
          <a:p>
            <a:r>
              <a:rPr kumimoji="1" lang="ja-JP" altLang="en-US" sz="2800" dirty="0"/>
              <a:t>アプリ実演</a:t>
            </a:r>
            <a:endParaRPr kumimoji="1" lang="en-US" altLang="ja-JP" sz="2800" dirty="0"/>
          </a:p>
          <a:p>
            <a:r>
              <a:rPr lang="ja-JP" altLang="en-US" sz="2800" dirty="0"/>
              <a:t>リリース概要</a:t>
            </a:r>
            <a:endParaRPr lang="en-US" altLang="ja-JP" sz="2800" dirty="0"/>
          </a:p>
          <a:p>
            <a:r>
              <a:rPr kumimoji="1" lang="ja-JP" altLang="en-US" sz="2800" dirty="0"/>
              <a:t>開発を進める上で行った工夫</a:t>
            </a:r>
            <a:endParaRPr kumimoji="1" lang="en-US" altLang="ja-JP" sz="2800" dirty="0"/>
          </a:p>
          <a:p>
            <a:r>
              <a:rPr lang="ja-JP" altLang="en-US" sz="2800" dirty="0"/>
              <a:t>開発を通じて実感したこと</a:t>
            </a:r>
            <a:endParaRPr kumimoji="1" lang="ja-JP" altLang="en-US" sz="2800" dirty="0"/>
          </a:p>
        </p:txBody>
      </p:sp>
    </p:spTree>
    <p:extLst>
      <p:ext uri="{BB962C8B-B14F-4D97-AF65-F5344CB8AC3E}">
        <p14:creationId xmlns:p14="http://schemas.microsoft.com/office/powerpoint/2010/main" val="1417182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2FB4-3EB0-0693-9F5C-D6D876861B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16360E-1872-D53E-2A31-3E47EFD0933C}"/>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3E3B3D8E-B5DB-5182-4722-644F3011A702}"/>
              </a:ext>
            </a:extLst>
          </p:cNvPr>
          <p:cNvSpPr>
            <a:spLocks noGrp="1"/>
          </p:cNvSpPr>
          <p:nvPr>
            <p:ph idx="1"/>
          </p:nvPr>
        </p:nvSpPr>
        <p:spPr/>
        <p:txBody>
          <a:bodyPr>
            <a:normAutofit/>
          </a:bodyPr>
          <a:lstStyle/>
          <a:p>
            <a:pPr marL="0" indent="0">
              <a:buNone/>
            </a:pPr>
            <a:r>
              <a:rPr kumimoji="1" lang="ja-JP" altLang="en-US" sz="2800" dirty="0"/>
              <a:t>☞想定利用者</a:t>
            </a:r>
            <a:endParaRPr kumimoji="1" lang="en-US" altLang="ja-JP" sz="2800" dirty="0"/>
          </a:p>
          <a:p>
            <a:r>
              <a:rPr lang="ja-JP" altLang="en-US" sz="2800" dirty="0">
                <a:solidFill>
                  <a:schemeClr val="bg1">
                    <a:lumMod val="50000"/>
                  </a:schemeClr>
                </a:solidFill>
              </a:rPr>
              <a:t>アプリ概要</a:t>
            </a:r>
            <a:endParaRPr lang="en-US" altLang="ja-JP" sz="2800" dirty="0">
              <a:solidFill>
                <a:schemeClr val="bg1">
                  <a:lumMod val="50000"/>
                </a:schemeClr>
              </a:solidFill>
            </a:endParaRPr>
          </a:p>
          <a:p>
            <a:r>
              <a:rPr kumimoji="1" lang="ja-JP" altLang="en-US" sz="2800" dirty="0">
                <a:solidFill>
                  <a:schemeClr val="bg1">
                    <a:lumMod val="50000"/>
                  </a:schemeClr>
                </a:solidFill>
              </a:rPr>
              <a:t>アプリ実演</a:t>
            </a:r>
            <a:endParaRPr kumimoji="1" lang="en-US" altLang="ja-JP" sz="2800" dirty="0">
              <a:solidFill>
                <a:schemeClr val="bg1">
                  <a:lumMod val="50000"/>
                </a:schemeClr>
              </a:solidFill>
            </a:endParaRPr>
          </a:p>
          <a:p>
            <a:r>
              <a:rPr lang="ja-JP" altLang="en-US" sz="2800" dirty="0">
                <a:solidFill>
                  <a:schemeClr val="bg1">
                    <a:lumMod val="50000"/>
                  </a:schemeClr>
                </a:solidFill>
              </a:rPr>
              <a:t>リリース概要</a:t>
            </a:r>
            <a:endParaRPr lang="en-US" altLang="ja-JP" sz="2800" dirty="0">
              <a:solidFill>
                <a:schemeClr val="bg1">
                  <a:lumMod val="50000"/>
                </a:schemeClr>
              </a:solidFill>
            </a:endParaRPr>
          </a:p>
          <a:p>
            <a:r>
              <a:rPr kumimoji="1" lang="ja-JP" altLang="en-US" sz="2800" dirty="0">
                <a:solidFill>
                  <a:schemeClr val="bg1">
                    <a:lumMod val="50000"/>
                  </a:schemeClr>
                </a:solidFill>
              </a:rPr>
              <a:t>開発を進める上で行った工夫</a:t>
            </a:r>
            <a:endParaRPr kumimoji="1" lang="en-US" altLang="ja-JP" sz="2800" dirty="0">
              <a:solidFill>
                <a:schemeClr val="bg1">
                  <a:lumMod val="50000"/>
                </a:schemeClr>
              </a:solidFill>
            </a:endParaRPr>
          </a:p>
          <a:p>
            <a:r>
              <a:rPr lang="ja-JP" altLang="en-US" sz="2800" dirty="0">
                <a:solidFill>
                  <a:schemeClr val="bg1">
                    <a:lumMod val="50000"/>
                  </a:schemeClr>
                </a:solidFill>
              </a:rPr>
              <a:t>開発を通じて実感したこと</a:t>
            </a:r>
            <a:endParaRPr kumimoji="1" lang="ja-JP" altLang="en-US" sz="2800" dirty="0">
              <a:solidFill>
                <a:schemeClr val="bg1">
                  <a:lumMod val="50000"/>
                </a:schemeClr>
              </a:solidFill>
            </a:endParaRPr>
          </a:p>
        </p:txBody>
      </p:sp>
    </p:spTree>
    <p:extLst>
      <p:ext uri="{BB962C8B-B14F-4D97-AF65-F5344CB8AC3E}">
        <p14:creationId xmlns:p14="http://schemas.microsoft.com/office/powerpoint/2010/main" val="55273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9A4A10-BA35-C791-5AE5-7A03D74FF597}"/>
              </a:ext>
            </a:extLst>
          </p:cNvPr>
          <p:cNvSpPr>
            <a:spLocks noGrp="1"/>
          </p:cNvSpPr>
          <p:nvPr>
            <p:ph type="title"/>
          </p:nvPr>
        </p:nvSpPr>
        <p:spPr/>
        <p:txBody>
          <a:bodyPr/>
          <a:lstStyle/>
          <a:p>
            <a:r>
              <a:rPr kumimoji="1" lang="ja-JP" altLang="en-US" dirty="0"/>
              <a:t>想定利用者</a:t>
            </a:r>
          </a:p>
        </p:txBody>
      </p:sp>
      <p:sp>
        <p:nvSpPr>
          <p:cNvPr id="3" name="コンテンツ プレースホルダー 2">
            <a:extLst>
              <a:ext uri="{FF2B5EF4-FFF2-40B4-BE49-F238E27FC236}">
                <a16:creationId xmlns:a16="http://schemas.microsoft.com/office/drawing/2014/main" id="{30AD93F8-7FBF-97FC-8CEA-F5164665CE3C}"/>
              </a:ext>
            </a:extLst>
          </p:cNvPr>
          <p:cNvSpPr>
            <a:spLocks noGrp="1"/>
          </p:cNvSpPr>
          <p:nvPr>
            <p:ph idx="1"/>
          </p:nvPr>
        </p:nvSpPr>
        <p:spPr/>
        <p:txBody>
          <a:bodyPr>
            <a:normAutofit/>
          </a:bodyPr>
          <a:lstStyle/>
          <a:p>
            <a:endParaRPr kumimoji="1" lang="en-US" altLang="ja-JP" sz="2800" dirty="0"/>
          </a:p>
          <a:p>
            <a:endParaRPr lang="en-US" altLang="ja-JP" sz="2800" dirty="0"/>
          </a:p>
          <a:p>
            <a:r>
              <a:rPr kumimoji="1" lang="ja-JP" altLang="en-US" sz="2800" dirty="0"/>
              <a:t>貯金を頑張りたい大学生</a:t>
            </a:r>
            <a:endParaRPr kumimoji="1" lang="en-US" altLang="ja-JP" sz="2800" dirty="0"/>
          </a:p>
          <a:p>
            <a:endParaRPr kumimoji="1" lang="en-US" altLang="ja-JP" sz="2800" dirty="0"/>
          </a:p>
          <a:p>
            <a:r>
              <a:rPr lang="ja-JP" altLang="en-US" sz="2800" dirty="0"/>
              <a:t>貯金を継続したい大学生</a:t>
            </a:r>
            <a:endParaRPr lang="en-US" altLang="ja-JP" sz="2800" dirty="0"/>
          </a:p>
          <a:p>
            <a:endParaRPr kumimoji="1" lang="en-US" altLang="ja-JP" sz="2800" dirty="0"/>
          </a:p>
        </p:txBody>
      </p:sp>
      <p:pic>
        <p:nvPicPr>
          <p:cNvPr id="5" name="図 4">
            <a:extLst>
              <a:ext uri="{FF2B5EF4-FFF2-40B4-BE49-F238E27FC236}">
                <a16:creationId xmlns:a16="http://schemas.microsoft.com/office/drawing/2014/main" id="{D86586A9-5349-5DBF-D578-159063B6CAEE}"/>
              </a:ext>
            </a:extLst>
          </p:cNvPr>
          <p:cNvPicPr>
            <a:picLocks noChangeAspect="1"/>
          </p:cNvPicPr>
          <p:nvPr/>
        </p:nvPicPr>
        <p:blipFill>
          <a:blip r:embed="rId3"/>
          <a:stretch>
            <a:fillRect/>
          </a:stretch>
        </p:blipFill>
        <p:spPr>
          <a:xfrm>
            <a:off x="8009767" y="2220135"/>
            <a:ext cx="3450714" cy="3814905"/>
          </a:xfrm>
          <a:prstGeom prst="rect">
            <a:avLst/>
          </a:prstGeom>
        </p:spPr>
      </p:pic>
    </p:spTree>
    <p:extLst>
      <p:ext uri="{BB962C8B-B14F-4D97-AF65-F5344CB8AC3E}">
        <p14:creationId xmlns:p14="http://schemas.microsoft.com/office/powerpoint/2010/main" val="2705608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562CE-F676-EAA3-8F44-19E41A0002A0}"/>
              </a:ext>
            </a:extLst>
          </p:cNvPr>
          <p:cNvSpPr>
            <a:spLocks noGrp="1"/>
          </p:cNvSpPr>
          <p:nvPr>
            <p:ph type="title"/>
          </p:nvPr>
        </p:nvSpPr>
        <p:spPr/>
        <p:txBody>
          <a:bodyPr/>
          <a:lstStyle/>
          <a:p>
            <a:r>
              <a:rPr kumimoji="1" lang="ja-JP" altLang="en-US" dirty="0"/>
              <a:t>想定利用状況</a:t>
            </a:r>
          </a:p>
        </p:txBody>
      </p:sp>
      <p:sp>
        <p:nvSpPr>
          <p:cNvPr id="3" name="コンテンツ プレースホルダー 2">
            <a:extLst>
              <a:ext uri="{FF2B5EF4-FFF2-40B4-BE49-F238E27FC236}">
                <a16:creationId xmlns:a16="http://schemas.microsoft.com/office/drawing/2014/main" id="{0B059AD7-175C-E4A8-2561-BC2DD9419330}"/>
              </a:ext>
            </a:extLst>
          </p:cNvPr>
          <p:cNvSpPr>
            <a:spLocks noGrp="1"/>
          </p:cNvSpPr>
          <p:nvPr>
            <p:ph idx="1"/>
          </p:nvPr>
        </p:nvSpPr>
        <p:spPr/>
        <p:txBody>
          <a:bodyPr>
            <a:normAutofit/>
          </a:bodyPr>
          <a:lstStyle/>
          <a:p>
            <a:r>
              <a:rPr kumimoji="1" lang="ja-JP" altLang="en-US" sz="2800" dirty="0"/>
              <a:t>旅行や欲しいものに向けて貯金したいが、</a:t>
            </a:r>
            <a:endParaRPr lang="en-US" altLang="ja-JP" sz="2800" dirty="0"/>
          </a:p>
          <a:p>
            <a:pPr marL="0" indent="0">
              <a:buNone/>
            </a:pPr>
            <a:r>
              <a:rPr lang="en-US" altLang="ja-JP" sz="2800" dirty="0"/>
              <a:t>  </a:t>
            </a:r>
            <a:r>
              <a:rPr kumimoji="1" lang="ja-JP" altLang="en-US" sz="2800" dirty="0"/>
              <a:t>モチベーションが続かず散財してしまう</a:t>
            </a:r>
            <a:endParaRPr kumimoji="1" lang="en-US" altLang="ja-JP" sz="2800" dirty="0"/>
          </a:p>
          <a:p>
            <a:pPr marL="0" indent="0">
              <a:buNone/>
            </a:pPr>
            <a:endParaRPr lang="en-US" altLang="ja-JP" sz="2800" dirty="0"/>
          </a:p>
          <a:p>
            <a:r>
              <a:rPr lang="ja-JP" altLang="en-US" sz="2800" b="0" i="0" dirty="0">
                <a:solidFill>
                  <a:srgbClr val="1F2328"/>
                </a:solidFill>
                <a:effectLst/>
                <a:latin typeface="-apple-system"/>
              </a:rPr>
              <a:t>大学卒業までに</a:t>
            </a:r>
            <a:r>
              <a:rPr lang="ja-JP" altLang="en-US" sz="2800" dirty="0">
                <a:solidFill>
                  <a:srgbClr val="1F2328"/>
                </a:solidFill>
                <a:latin typeface="-apple-system"/>
              </a:rPr>
              <a:t>まとまった金額を</a:t>
            </a:r>
            <a:r>
              <a:rPr lang="ja-JP" altLang="en-US" sz="2800" b="0" i="0" dirty="0">
                <a:solidFill>
                  <a:srgbClr val="1F2328"/>
                </a:solidFill>
                <a:effectLst/>
                <a:latin typeface="-apple-system"/>
              </a:rPr>
              <a:t>貯めたいが</a:t>
            </a:r>
            <a:endParaRPr lang="en-US" altLang="ja-JP" sz="2800" b="0" i="0" dirty="0">
              <a:solidFill>
                <a:srgbClr val="1F2328"/>
              </a:solidFill>
              <a:effectLst/>
              <a:latin typeface="-apple-system"/>
            </a:endParaRPr>
          </a:p>
          <a:p>
            <a:pPr marL="0" indent="0">
              <a:buNone/>
            </a:pPr>
            <a:r>
              <a:rPr lang="ja-JP" altLang="en-US" sz="2800" b="0" i="0" dirty="0">
                <a:solidFill>
                  <a:srgbClr val="1F2328"/>
                </a:solidFill>
                <a:effectLst/>
                <a:latin typeface="-apple-system"/>
              </a:rPr>
              <a:t>  貯金の習慣がないので貯金のモチベーションを保ちたい</a:t>
            </a:r>
            <a:endParaRPr lang="en-US" altLang="ja-JP" sz="2800" b="0" i="0" dirty="0">
              <a:solidFill>
                <a:srgbClr val="1F2328"/>
              </a:solidFill>
              <a:effectLst/>
              <a:latin typeface="-apple-system"/>
            </a:endParaRPr>
          </a:p>
          <a:p>
            <a:endParaRPr lang="en-US" altLang="ja-JP" sz="2800" dirty="0">
              <a:solidFill>
                <a:srgbClr val="1F2328"/>
              </a:solidFill>
              <a:latin typeface="-apple-system"/>
            </a:endParaRPr>
          </a:p>
          <a:p>
            <a:r>
              <a:rPr lang="ja-JP" altLang="en-US" sz="2800" dirty="0"/>
              <a:t>免許を取りたいが</a:t>
            </a:r>
            <a:r>
              <a:rPr lang="en-US" altLang="ja-JP" sz="2800" dirty="0"/>
              <a:t>30</a:t>
            </a:r>
            <a:r>
              <a:rPr lang="ja-JP" altLang="en-US" sz="2800" dirty="0"/>
              <a:t>万貯金できる自信がない</a:t>
            </a:r>
            <a:endParaRPr lang="en-US" altLang="ja-JP" sz="2800" dirty="0"/>
          </a:p>
          <a:p>
            <a:endParaRPr lang="en-US" altLang="ja-JP" sz="2800" dirty="0"/>
          </a:p>
        </p:txBody>
      </p:sp>
      <p:pic>
        <p:nvPicPr>
          <p:cNvPr id="7" name="図 6">
            <a:extLst>
              <a:ext uri="{FF2B5EF4-FFF2-40B4-BE49-F238E27FC236}">
                <a16:creationId xmlns:a16="http://schemas.microsoft.com/office/drawing/2014/main" id="{9AA2138D-4D8C-D4F9-888C-EFA3D1366F57}"/>
              </a:ext>
            </a:extLst>
          </p:cNvPr>
          <p:cNvPicPr>
            <a:picLocks noChangeAspect="1"/>
          </p:cNvPicPr>
          <p:nvPr/>
        </p:nvPicPr>
        <p:blipFill>
          <a:blip r:embed="rId3"/>
          <a:stretch>
            <a:fillRect/>
          </a:stretch>
        </p:blipFill>
        <p:spPr>
          <a:xfrm>
            <a:off x="9712789" y="3212433"/>
            <a:ext cx="2213033" cy="3262747"/>
          </a:xfrm>
          <a:prstGeom prst="rect">
            <a:avLst/>
          </a:prstGeom>
        </p:spPr>
      </p:pic>
    </p:spTree>
    <p:extLst>
      <p:ext uri="{BB962C8B-B14F-4D97-AF65-F5344CB8AC3E}">
        <p14:creationId xmlns:p14="http://schemas.microsoft.com/office/powerpoint/2010/main" val="1782069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CA1F-9521-7F57-06C0-84E631BF28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E5F73A-B509-BF56-47D2-65E5E1CFF7E0}"/>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8BA0469B-6689-7A7D-C79A-D1FFF34A6EBF}"/>
              </a:ext>
            </a:extLst>
          </p:cNvPr>
          <p:cNvSpPr>
            <a:spLocks noGrp="1"/>
          </p:cNvSpPr>
          <p:nvPr>
            <p:ph idx="1"/>
          </p:nvPr>
        </p:nvSpPr>
        <p:spPr/>
        <p:txBody>
          <a:bodyPr>
            <a:normAutofit/>
          </a:bodyPr>
          <a:lstStyle/>
          <a:p>
            <a:r>
              <a:rPr kumimoji="1" lang="ja-JP" altLang="en-US" sz="2800" dirty="0">
                <a:solidFill>
                  <a:schemeClr val="bg1">
                    <a:lumMod val="50000"/>
                  </a:schemeClr>
                </a:solidFill>
              </a:rPr>
              <a:t>想定利用者</a:t>
            </a:r>
            <a:endParaRPr kumimoji="1" lang="en-US" altLang="ja-JP" sz="2800" dirty="0">
              <a:solidFill>
                <a:schemeClr val="bg1">
                  <a:lumMod val="50000"/>
                </a:schemeClr>
              </a:solidFill>
            </a:endParaRPr>
          </a:p>
          <a:p>
            <a:pPr marL="0" indent="0">
              <a:buNone/>
            </a:pPr>
            <a:r>
              <a:rPr lang="ja-JP" altLang="en-US" sz="2800" dirty="0"/>
              <a:t>☞アプリ概要</a:t>
            </a:r>
            <a:endParaRPr lang="en-US" altLang="ja-JP" sz="2800" dirty="0"/>
          </a:p>
          <a:p>
            <a:r>
              <a:rPr kumimoji="1" lang="ja-JP" altLang="en-US" sz="2800" dirty="0">
                <a:solidFill>
                  <a:schemeClr val="bg1">
                    <a:lumMod val="50000"/>
                  </a:schemeClr>
                </a:solidFill>
              </a:rPr>
              <a:t>アプリ実演</a:t>
            </a:r>
            <a:endParaRPr kumimoji="1" lang="en-US" altLang="ja-JP" sz="2800" dirty="0">
              <a:solidFill>
                <a:schemeClr val="bg1">
                  <a:lumMod val="50000"/>
                </a:schemeClr>
              </a:solidFill>
            </a:endParaRPr>
          </a:p>
          <a:p>
            <a:r>
              <a:rPr lang="ja-JP" altLang="en-US" sz="2800" dirty="0">
                <a:solidFill>
                  <a:schemeClr val="bg1">
                    <a:lumMod val="50000"/>
                  </a:schemeClr>
                </a:solidFill>
              </a:rPr>
              <a:t>リリース概要</a:t>
            </a:r>
            <a:endParaRPr lang="en-US" altLang="ja-JP" sz="2800" dirty="0">
              <a:solidFill>
                <a:schemeClr val="bg1">
                  <a:lumMod val="50000"/>
                </a:schemeClr>
              </a:solidFill>
            </a:endParaRPr>
          </a:p>
          <a:p>
            <a:r>
              <a:rPr kumimoji="1" lang="ja-JP" altLang="en-US" sz="2800" dirty="0">
                <a:solidFill>
                  <a:schemeClr val="bg1">
                    <a:lumMod val="50000"/>
                  </a:schemeClr>
                </a:solidFill>
              </a:rPr>
              <a:t>開発を進める上で行った工夫</a:t>
            </a:r>
            <a:endParaRPr kumimoji="1" lang="en-US" altLang="ja-JP" sz="2800" dirty="0">
              <a:solidFill>
                <a:schemeClr val="bg1">
                  <a:lumMod val="50000"/>
                </a:schemeClr>
              </a:solidFill>
            </a:endParaRPr>
          </a:p>
          <a:p>
            <a:r>
              <a:rPr lang="ja-JP" altLang="en-US" sz="2800" dirty="0">
                <a:solidFill>
                  <a:schemeClr val="bg1">
                    <a:lumMod val="50000"/>
                  </a:schemeClr>
                </a:solidFill>
              </a:rPr>
              <a:t>開発を通じて実感したこと</a:t>
            </a:r>
            <a:endParaRPr kumimoji="1" lang="ja-JP" altLang="en-US" sz="2800" dirty="0">
              <a:solidFill>
                <a:schemeClr val="bg1">
                  <a:lumMod val="50000"/>
                </a:schemeClr>
              </a:solidFill>
            </a:endParaRPr>
          </a:p>
        </p:txBody>
      </p:sp>
    </p:spTree>
    <p:extLst>
      <p:ext uri="{BB962C8B-B14F-4D97-AF65-F5344CB8AC3E}">
        <p14:creationId xmlns:p14="http://schemas.microsoft.com/office/powerpoint/2010/main" val="408809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E29659-BD10-63D5-DB62-649FDEB04B0D}"/>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818FC2FF-3DEF-43A0-6FF4-832C2A6C72F1}"/>
              </a:ext>
            </a:extLst>
          </p:cNvPr>
          <p:cNvSpPr>
            <a:spLocks noGrp="1"/>
          </p:cNvSpPr>
          <p:nvPr>
            <p:ph idx="1"/>
          </p:nvPr>
        </p:nvSpPr>
        <p:spPr/>
        <p:txBody>
          <a:bodyPr>
            <a:normAutofit/>
          </a:bodyPr>
          <a:lstStyle/>
          <a:p>
            <a:pPr marL="0" indent="0">
              <a:buNone/>
            </a:pPr>
            <a:endParaRPr kumimoji="1" lang="en-US" altLang="ja-JP" sz="4400" dirty="0"/>
          </a:p>
          <a:p>
            <a:pPr marL="0" indent="0">
              <a:buNone/>
            </a:pPr>
            <a:endParaRPr kumimoji="1" lang="en-US" altLang="ja-JP" sz="4400" dirty="0"/>
          </a:p>
          <a:p>
            <a:pPr marL="0" indent="0">
              <a:buNone/>
            </a:pPr>
            <a:r>
              <a:rPr kumimoji="1" lang="ja-JP" altLang="en-US" sz="4400" dirty="0"/>
              <a:t>こぶた貯金</a:t>
            </a:r>
            <a:endParaRPr kumimoji="1" lang="en-US" altLang="ja-JP" sz="4400" dirty="0"/>
          </a:p>
          <a:p>
            <a:pPr marL="0" indent="0">
              <a:buNone/>
            </a:pPr>
            <a:endParaRPr kumimoji="1" lang="en-US" altLang="ja-JP" sz="4400" dirty="0"/>
          </a:p>
          <a:p>
            <a:pPr marL="0" indent="0">
              <a:buNone/>
            </a:pPr>
            <a:endParaRPr lang="en-US" altLang="ja-JP" sz="2400" dirty="0"/>
          </a:p>
        </p:txBody>
      </p:sp>
      <p:pic>
        <p:nvPicPr>
          <p:cNvPr id="4" name="図 3" descr="アイコン&#10;&#10;自動的に生成された説明">
            <a:extLst>
              <a:ext uri="{FF2B5EF4-FFF2-40B4-BE49-F238E27FC236}">
                <a16:creationId xmlns:a16="http://schemas.microsoft.com/office/drawing/2014/main" id="{47E1E168-4BCB-B148-0A25-2DE631676C24}"/>
              </a:ext>
            </a:extLst>
          </p:cNvPr>
          <p:cNvPicPr>
            <a:picLocks noChangeAspect="1"/>
          </p:cNvPicPr>
          <p:nvPr/>
        </p:nvPicPr>
        <p:blipFill>
          <a:blip r:embed="rId3">
            <a:clrChange>
              <a:clrFrom>
                <a:srgbClr val="FEF7FF"/>
              </a:clrFrom>
              <a:clrTo>
                <a:srgbClr val="FEF7FF">
                  <a:alpha val="0"/>
                </a:srgbClr>
              </a:clrTo>
            </a:clrChange>
          </a:blip>
          <a:stretch>
            <a:fillRect/>
          </a:stretch>
        </p:blipFill>
        <p:spPr>
          <a:xfrm>
            <a:off x="7879332" y="1568395"/>
            <a:ext cx="3721210" cy="3721210"/>
          </a:xfrm>
          <a:prstGeom prst="rect">
            <a:avLst/>
          </a:prstGeom>
        </p:spPr>
      </p:pic>
    </p:spTree>
    <p:extLst>
      <p:ext uri="{BB962C8B-B14F-4D97-AF65-F5344CB8AC3E}">
        <p14:creationId xmlns:p14="http://schemas.microsoft.com/office/powerpoint/2010/main" val="3932257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B2119-879D-9300-4F41-DC0F7877B9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179F81-4D53-36D0-784C-828BA3E934E5}"/>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18FCB399-32A9-B3FD-E9BA-BFDCA225A94C}"/>
              </a:ext>
            </a:extLst>
          </p:cNvPr>
          <p:cNvSpPr>
            <a:spLocks noGrp="1"/>
          </p:cNvSpPr>
          <p:nvPr>
            <p:ph idx="1"/>
          </p:nvPr>
        </p:nvSpPr>
        <p:spPr/>
        <p:txBody>
          <a:bodyPr>
            <a:normAutofit/>
          </a:bodyPr>
          <a:lstStyle/>
          <a:p>
            <a:r>
              <a:rPr lang="ja-JP" altLang="en-US" sz="2800" dirty="0"/>
              <a:t>アプリ内での貯金の定義</a:t>
            </a:r>
            <a:endParaRPr lang="en-US" altLang="ja-JP" sz="2800" dirty="0"/>
          </a:p>
          <a:p>
            <a:pPr marL="0" indent="0">
              <a:buNone/>
            </a:pPr>
            <a:r>
              <a:rPr lang="ja-JP" altLang="en-US" sz="2400" b="0" i="0" dirty="0">
                <a:effectLst/>
                <a:latin typeface="gg sans"/>
              </a:rPr>
              <a:t>    アプリ内で貯金する額を自己申告！</a:t>
            </a:r>
            <a:endParaRPr lang="en-US" altLang="ja-JP" sz="2400" b="0" i="0" dirty="0">
              <a:effectLst/>
              <a:latin typeface="gg sans"/>
            </a:endParaRPr>
          </a:p>
          <a:p>
            <a:pPr marL="0" indent="0">
              <a:buNone/>
            </a:pPr>
            <a:r>
              <a:rPr lang="en-US" altLang="ja-JP" sz="2400" dirty="0">
                <a:latin typeface="gg sans"/>
              </a:rPr>
              <a:t>    </a:t>
            </a:r>
            <a:r>
              <a:rPr lang="ja-JP" altLang="en-US" sz="2400" dirty="0">
                <a:latin typeface="gg sans"/>
              </a:rPr>
              <a:t>貯金したいときに貯金したい額を貯金</a:t>
            </a:r>
            <a:endParaRPr lang="en-US" altLang="ja-JP" sz="2400" b="0" i="0" dirty="0">
              <a:effectLst/>
              <a:latin typeface="gg sans"/>
            </a:endParaRPr>
          </a:p>
          <a:p>
            <a:endParaRPr lang="en-US" altLang="ja-JP" sz="2400" dirty="0"/>
          </a:p>
          <a:p>
            <a:r>
              <a:rPr lang="ja-JP" altLang="en-US" sz="2800" dirty="0"/>
              <a:t>アプリ内での貯金とは？</a:t>
            </a:r>
            <a:endParaRPr lang="en-US" altLang="ja-JP" sz="2400" dirty="0">
              <a:latin typeface="gg sans"/>
            </a:endParaRPr>
          </a:p>
          <a:p>
            <a:pPr marL="0" indent="0">
              <a:buNone/>
            </a:pPr>
            <a:r>
              <a:rPr lang="en-US" altLang="ja-JP" sz="2400" b="0" i="0" dirty="0">
                <a:effectLst/>
                <a:latin typeface="gg sans"/>
              </a:rPr>
              <a:t>    </a:t>
            </a:r>
            <a:r>
              <a:rPr lang="ja-JP" altLang="en-US" sz="2400" b="0" i="0" dirty="0">
                <a:effectLst/>
                <a:latin typeface="gg sans"/>
              </a:rPr>
              <a:t>銀行口座の中で</a:t>
            </a:r>
            <a:r>
              <a:rPr lang="en-US" altLang="ja-JP" sz="2400" b="0" i="0" dirty="0">
                <a:effectLst/>
                <a:latin typeface="gg sans"/>
              </a:rPr>
              <a:t>“</a:t>
            </a:r>
            <a:r>
              <a:rPr lang="ja-JP" altLang="en-US" sz="2400" b="0" i="0" dirty="0">
                <a:effectLst/>
                <a:latin typeface="gg sans"/>
              </a:rPr>
              <a:t>使わない</a:t>
            </a:r>
            <a:r>
              <a:rPr lang="en-US" altLang="ja-JP" sz="2400" b="0" i="0" dirty="0">
                <a:effectLst/>
                <a:latin typeface="gg sans"/>
              </a:rPr>
              <a:t>”</a:t>
            </a:r>
            <a:r>
              <a:rPr lang="ja-JP" altLang="en-US" sz="2400" b="0" i="0" dirty="0">
                <a:effectLst/>
                <a:latin typeface="gg sans"/>
              </a:rPr>
              <a:t>と決めた額を</a:t>
            </a:r>
            <a:endParaRPr lang="en-US" altLang="ja-JP" sz="2400" b="0" i="0" dirty="0">
              <a:effectLst/>
              <a:latin typeface="gg sans"/>
            </a:endParaRPr>
          </a:p>
          <a:p>
            <a:pPr marL="0" indent="0">
              <a:buNone/>
            </a:pPr>
            <a:r>
              <a:rPr lang="en-US" altLang="ja-JP" sz="2400" dirty="0">
                <a:latin typeface="gg sans"/>
              </a:rPr>
              <a:t>    </a:t>
            </a:r>
            <a:r>
              <a:rPr lang="ja-JP" altLang="en-US" sz="2400" b="0" i="0" dirty="0">
                <a:effectLst/>
                <a:latin typeface="gg sans"/>
              </a:rPr>
              <a:t>貯金した額として取り扱います</a:t>
            </a:r>
            <a:endParaRPr kumimoji="1" lang="ja-JP" altLang="en-US" sz="2400" dirty="0"/>
          </a:p>
        </p:txBody>
      </p:sp>
      <p:pic>
        <p:nvPicPr>
          <p:cNvPr id="8" name="図 7">
            <a:extLst>
              <a:ext uri="{FF2B5EF4-FFF2-40B4-BE49-F238E27FC236}">
                <a16:creationId xmlns:a16="http://schemas.microsoft.com/office/drawing/2014/main" id="{C0D2C3A1-FCA1-FE8C-6BDA-296183E75170}"/>
              </a:ext>
            </a:extLst>
          </p:cNvPr>
          <p:cNvPicPr>
            <a:picLocks noChangeAspect="1"/>
          </p:cNvPicPr>
          <p:nvPr/>
        </p:nvPicPr>
        <p:blipFill>
          <a:blip r:embed="rId3"/>
          <a:stretch>
            <a:fillRect/>
          </a:stretch>
        </p:blipFill>
        <p:spPr>
          <a:xfrm>
            <a:off x="8405576" y="703689"/>
            <a:ext cx="3091007" cy="5450621"/>
          </a:xfrm>
          <a:prstGeom prst="rect">
            <a:avLst/>
          </a:prstGeom>
        </p:spPr>
      </p:pic>
      <p:graphicFrame>
        <p:nvGraphicFramePr>
          <p:cNvPr id="10" name="グラフ 9">
            <a:extLst>
              <a:ext uri="{FF2B5EF4-FFF2-40B4-BE49-F238E27FC236}">
                <a16:creationId xmlns:a16="http://schemas.microsoft.com/office/drawing/2014/main" id="{977B0166-1A94-10FD-32A7-EB6E1D7BA6E0}"/>
              </a:ext>
            </a:extLst>
          </p:cNvPr>
          <p:cNvGraphicFramePr>
            <a:graphicFrameLocks/>
          </p:cNvGraphicFramePr>
          <p:nvPr>
            <p:extLst>
              <p:ext uri="{D42A27DB-BD31-4B8C-83A1-F6EECF244321}">
                <p14:modId xmlns:p14="http://schemas.microsoft.com/office/powerpoint/2010/main" val="1776800419"/>
              </p:ext>
            </p:extLst>
          </p:nvPr>
        </p:nvGraphicFramePr>
        <p:xfrm>
          <a:off x="7190975" y="2549178"/>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9941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C9E10E-750D-0046-CF33-47F665435E49}"/>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B11E8831-BEC7-74F8-3DC9-ACCF0A9733C5}"/>
              </a:ext>
            </a:extLst>
          </p:cNvPr>
          <p:cNvSpPr>
            <a:spLocks noGrp="1"/>
          </p:cNvSpPr>
          <p:nvPr>
            <p:ph idx="1"/>
          </p:nvPr>
        </p:nvSpPr>
        <p:spPr/>
        <p:txBody>
          <a:bodyPr>
            <a:normAutofit/>
          </a:bodyPr>
          <a:lstStyle/>
          <a:p>
            <a:r>
              <a:rPr kumimoji="1" lang="ja-JP" altLang="en-US" sz="2800" dirty="0"/>
              <a:t>口座</a:t>
            </a:r>
            <a:r>
              <a:rPr lang="ja-JP" altLang="en-US" sz="2800" dirty="0"/>
              <a:t>について</a:t>
            </a:r>
            <a:endParaRPr kumimoji="1" lang="en-US" altLang="ja-JP" sz="2800" dirty="0"/>
          </a:p>
          <a:p>
            <a:pPr marL="0" indent="0">
              <a:buNone/>
            </a:pPr>
            <a:r>
              <a:rPr kumimoji="1" lang="ja-JP" altLang="en-US" sz="2400" dirty="0">
                <a:latin typeface="gg sans"/>
              </a:rPr>
              <a:t>    口座情報は自己申告した貯金額が実際に</a:t>
            </a:r>
            <a:endParaRPr kumimoji="1" lang="en-US" altLang="ja-JP" sz="2400" dirty="0">
              <a:latin typeface="gg sans"/>
            </a:endParaRPr>
          </a:p>
          <a:p>
            <a:pPr marL="0" indent="0">
              <a:buNone/>
            </a:pPr>
            <a:r>
              <a:rPr lang="en-US" altLang="ja-JP" sz="2400" dirty="0">
                <a:latin typeface="gg sans"/>
              </a:rPr>
              <a:t>    </a:t>
            </a:r>
            <a:r>
              <a:rPr kumimoji="1" lang="ja-JP" altLang="en-US" sz="2400" dirty="0">
                <a:latin typeface="gg sans"/>
              </a:rPr>
              <a:t>貯金できているかの判定に用います</a:t>
            </a:r>
            <a:endParaRPr kumimoji="1" lang="en-US" altLang="ja-JP" sz="2400" dirty="0"/>
          </a:p>
          <a:p>
            <a:pPr marL="0" indent="0">
              <a:buNone/>
            </a:pPr>
            <a:endParaRPr lang="en-US" altLang="ja-JP" sz="2400" dirty="0">
              <a:latin typeface="gg sans"/>
            </a:endParaRPr>
          </a:p>
          <a:p>
            <a:pPr marL="0" indent="0">
              <a:buNone/>
            </a:pPr>
            <a:r>
              <a:rPr lang="ja-JP" altLang="en-US" sz="2400" b="0" i="0" dirty="0">
                <a:effectLst/>
                <a:latin typeface="gg sans"/>
              </a:rPr>
              <a:t>    給料の振り込みやクレカの引き落としがある口座を利用する事を想定</a:t>
            </a:r>
            <a:endParaRPr lang="en-US" altLang="ja-JP" sz="2400" b="0" i="0" dirty="0">
              <a:effectLst/>
              <a:latin typeface="gg sans"/>
            </a:endParaRPr>
          </a:p>
          <a:p>
            <a:pPr marL="0" indent="0">
              <a:buNone/>
            </a:pPr>
            <a:r>
              <a:rPr lang="ja-JP" altLang="en-US" sz="2400" b="0" i="0" dirty="0">
                <a:effectLst/>
                <a:latin typeface="gg sans"/>
              </a:rPr>
              <a:t>（ターゲットが大学生</a:t>
            </a:r>
            <a:r>
              <a:rPr lang="ja-JP" altLang="en-US" sz="2400" dirty="0">
                <a:latin typeface="gg sans"/>
              </a:rPr>
              <a:t>なので</a:t>
            </a:r>
            <a:r>
              <a:rPr lang="ja-JP" altLang="en-US" sz="2400" b="0" i="0" dirty="0">
                <a:effectLst/>
                <a:latin typeface="gg sans"/>
              </a:rPr>
              <a:t>、複数の口座を利用していることは</a:t>
            </a:r>
            <a:endParaRPr lang="en-US" altLang="ja-JP" sz="2400" b="0" i="0" dirty="0">
              <a:effectLst/>
              <a:latin typeface="gg sans"/>
            </a:endParaRPr>
          </a:p>
          <a:p>
            <a:pPr marL="0" indent="0">
              <a:buNone/>
            </a:pPr>
            <a:r>
              <a:rPr lang="ja-JP" altLang="en-US" sz="2400" b="0" i="0" dirty="0">
                <a:effectLst/>
                <a:latin typeface="gg sans"/>
              </a:rPr>
              <a:t>    想定していません）</a:t>
            </a:r>
            <a:endParaRPr kumimoji="1" lang="en-US" altLang="ja-JP" dirty="0"/>
          </a:p>
          <a:p>
            <a:endParaRPr kumimoji="1" lang="ja-JP" altLang="en-US" dirty="0"/>
          </a:p>
        </p:txBody>
      </p:sp>
      <p:pic>
        <p:nvPicPr>
          <p:cNvPr id="5" name="図 4">
            <a:extLst>
              <a:ext uri="{FF2B5EF4-FFF2-40B4-BE49-F238E27FC236}">
                <a16:creationId xmlns:a16="http://schemas.microsoft.com/office/drawing/2014/main" id="{479E4E86-DEE2-4473-BEE1-46CE14705717}"/>
              </a:ext>
            </a:extLst>
          </p:cNvPr>
          <p:cNvPicPr>
            <a:picLocks noChangeAspect="1"/>
          </p:cNvPicPr>
          <p:nvPr/>
        </p:nvPicPr>
        <p:blipFill>
          <a:blip r:embed="rId2"/>
          <a:stretch>
            <a:fillRect/>
          </a:stretch>
        </p:blipFill>
        <p:spPr>
          <a:xfrm>
            <a:off x="8539999" y="1145588"/>
            <a:ext cx="2585201" cy="2283412"/>
          </a:xfrm>
          <a:prstGeom prst="rect">
            <a:avLst/>
          </a:prstGeom>
        </p:spPr>
      </p:pic>
    </p:spTree>
    <p:extLst>
      <p:ext uri="{BB962C8B-B14F-4D97-AF65-F5344CB8AC3E}">
        <p14:creationId xmlns:p14="http://schemas.microsoft.com/office/powerpoint/2010/main" val="357365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A819-AC67-7763-6CC1-97780C4720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57F773-39CA-F120-F7C6-B808E804F25A}"/>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06D52549-88F8-E6EB-78C9-2D22D976257B}"/>
              </a:ext>
            </a:extLst>
          </p:cNvPr>
          <p:cNvSpPr>
            <a:spLocks noGrp="1"/>
          </p:cNvSpPr>
          <p:nvPr>
            <p:ph idx="1"/>
          </p:nvPr>
        </p:nvSpPr>
        <p:spPr/>
        <p:txBody>
          <a:bodyPr>
            <a:normAutofit/>
          </a:bodyPr>
          <a:lstStyle/>
          <a:p>
            <a:r>
              <a:rPr lang="en-US" altLang="ja-JP" sz="2800" dirty="0"/>
              <a:t>Moneytree</a:t>
            </a:r>
            <a:r>
              <a:rPr lang="ja-JP" altLang="en-US" sz="2800" dirty="0"/>
              <a:t>の</a:t>
            </a:r>
            <a:r>
              <a:rPr lang="en-US" altLang="ja-JP" sz="2800" dirty="0"/>
              <a:t>LINK API</a:t>
            </a:r>
          </a:p>
          <a:p>
            <a:pPr marL="0" indent="0">
              <a:buNone/>
            </a:pPr>
            <a:r>
              <a:rPr kumimoji="1" lang="ja-JP" altLang="en-US" sz="2400" dirty="0"/>
              <a:t>    銀行の口座残高や取引履歴・クレジットカード情報を取得可能</a:t>
            </a:r>
            <a:endParaRPr kumimoji="1" lang="en-US" altLang="ja-JP" sz="2400" dirty="0"/>
          </a:p>
          <a:p>
            <a:pPr marL="0" indent="0">
              <a:buNone/>
            </a:pPr>
            <a:r>
              <a:rPr lang="en-US" altLang="ja-JP" sz="2400" dirty="0"/>
              <a:t>    </a:t>
            </a:r>
            <a:r>
              <a:rPr lang="ja-JP" altLang="en-US" sz="2400" dirty="0"/>
              <a:t>最新の金融データがリアルタイムで利用できる</a:t>
            </a:r>
            <a:endParaRPr lang="en-US" altLang="ja-JP" sz="2400" dirty="0"/>
          </a:p>
          <a:p>
            <a:pPr marL="0" indent="0">
              <a:buNone/>
            </a:pPr>
            <a:r>
              <a:rPr kumimoji="1" lang="en-US" altLang="ja-JP" sz="2400" dirty="0"/>
              <a:t>    </a:t>
            </a:r>
            <a:r>
              <a:rPr kumimoji="1" lang="ja-JP" altLang="en-US" sz="2400" dirty="0"/>
              <a:t>今回のアプリではサンプルデータから残高情報を取得</a:t>
            </a:r>
          </a:p>
        </p:txBody>
      </p:sp>
      <p:pic>
        <p:nvPicPr>
          <p:cNvPr id="4" name="コンテンツ プレースホルダー 4" descr="ダイアグラム&#10;&#10;自動的に生成された説明">
            <a:extLst>
              <a:ext uri="{FF2B5EF4-FFF2-40B4-BE49-F238E27FC236}">
                <a16:creationId xmlns:a16="http://schemas.microsoft.com/office/drawing/2014/main" id="{2DB4D00D-0005-6930-0F3C-B3740C40F810}"/>
              </a:ext>
            </a:extLst>
          </p:cNvPr>
          <p:cNvPicPr>
            <a:picLocks noGrp="1" noChangeAspect="1"/>
          </p:cNvPicPr>
          <p:nvPr/>
        </p:nvPicPr>
        <p:blipFill>
          <a:blip r:embed="rId2"/>
          <a:stretch>
            <a:fillRect/>
          </a:stretch>
        </p:blipFill>
        <p:spPr>
          <a:xfrm>
            <a:off x="8016240" y="4212525"/>
            <a:ext cx="3474720" cy="2119578"/>
          </a:xfrm>
          <a:prstGeom prst="rect">
            <a:avLst/>
          </a:prstGeom>
        </p:spPr>
      </p:pic>
    </p:spTree>
    <p:extLst>
      <p:ext uri="{BB962C8B-B14F-4D97-AF65-F5344CB8AC3E}">
        <p14:creationId xmlns:p14="http://schemas.microsoft.com/office/powerpoint/2010/main" val="4248846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40292B-4F95-E575-004D-8EC4B320FE2C}"/>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7DC9A517-6171-67D6-2947-F13F4DA2528C}"/>
              </a:ext>
            </a:extLst>
          </p:cNvPr>
          <p:cNvSpPr>
            <a:spLocks noGrp="1"/>
          </p:cNvSpPr>
          <p:nvPr>
            <p:ph idx="1"/>
          </p:nvPr>
        </p:nvSpPr>
        <p:spPr/>
        <p:txBody>
          <a:bodyPr>
            <a:normAutofit/>
          </a:bodyPr>
          <a:lstStyle/>
          <a:p>
            <a:r>
              <a:rPr kumimoji="1" lang="ja-JP" altLang="en-US" sz="2800" dirty="0"/>
              <a:t>タイトル画面</a:t>
            </a:r>
            <a:endParaRPr kumimoji="1" lang="en-US" altLang="ja-JP" sz="2800" dirty="0"/>
          </a:p>
          <a:p>
            <a:pPr marL="0" indent="0">
              <a:buNone/>
            </a:pPr>
            <a:r>
              <a:rPr kumimoji="1" lang="en-US" altLang="ja-JP" sz="2400" dirty="0"/>
              <a:t>    </a:t>
            </a:r>
            <a:r>
              <a:rPr kumimoji="1" lang="ja-JP" altLang="en-US" sz="2400" dirty="0"/>
              <a:t>ユーザーを案内する最初の画面</a:t>
            </a:r>
            <a:endParaRPr kumimoji="1" lang="en-US" altLang="ja-JP" sz="2400" dirty="0"/>
          </a:p>
          <a:p>
            <a:pPr marL="0" indent="0">
              <a:buNone/>
            </a:pPr>
            <a:r>
              <a:rPr kumimoji="1" lang="ja-JP" altLang="en-US" sz="2400" dirty="0"/>
              <a:t>    画面タップで次の画面へ</a:t>
            </a:r>
          </a:p>
        </p:txBody>
      </p:sp>
      <p:pic>
        <p:nvPicPr>
          <p:cNvPr id="5" name="図 4">
            <a:extLst>
              <a:ext uri="{FF2B5EF4-FFF2-40B4-BE49-F238E27FC236}">
                <a16:creationId xmlns:a16="http://schemas.microsoft.com/office/drawing/2014/main" id="{61BFA498-92A4-6C30-AA01-532EB20F6F1C}"/>
              </a:ext>
            </a:extLst>
          </p:cNvPr>
          <p:cNvPicPr>
            <a:picLocks noChangeAspect="1"/>
          </p:cNvPicPr>
          <p:nvPr/>
        </p:nvPicPr>
        <p:blipFill>
          <a:blip r:embed="rId3">
            <a:clrChange>
              <a:clrFrom>
                <a:srgbClr val="F7F8FA"/>
              </a:clrFrom>
              <a:clrTo>
                <a:srgbClr val="F7F8FA">
                  <a:alpha val="0"/>
                </a:srgbClr>
              </a:clrTo>
            </a:clrChange>
          </a:blip>
          <a:stretch>
            <a:fillRect/>
          </a:stretch>
        </p:blipFill>
        <p:spPr>
          <a:xfrm>
            <a:off x="8738102" y="369000"/>
            <a:ext cx="2950714" cy="6120000"/>
          </a:xfrm>
          <a:prstGeom prst="rect">
            <a:avLst/>
          </a:prstGeom>
        </p:spPr>
      </p:pic>
    </p:spTree>
    <p:extLst>
      <p:ext uri="{BB962C8B-B14F-4D97-AF65-F5344CB8AC3E}">
        <p14:creationId xmlns:p14="http://schemas.microsoft.com/office/powerpoint/2010/main" val="210381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45E39-4291-13D6-0334-6EEF3F44FF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3141B0-225E-C36C-624E-4A40304AC306}"/>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0CC6A425-BE57-1082-3B10-16AEB57C5741}"/>
              </a:ext>
            </a:extLst>
          </p:cNvPr>
          <p:cNvSpPr>
            <a:spLocks noGrp="1"/>
          </p:cNvSpPr>
          <p:nvPr>
            <p:ph idx="1"/>
          </p:nvPr>
        </p:nvSpPr>
        <p:spPr/>
        <p:txBody>
          <a:bodyPr>
            <a:normAutofit/>
          </a:bodyPr>
          <a:lstStyle/>
          <a:p>
            <a:r>
              <a:rPr kumimoji="1" lang="ja-JP" altLang="en-US" sz="2800" dirty="0"/>
              <a:t>口座情報との連携画面</a:t>
            </a:r>
            <a:endParaRPr kumimoji="1" lang="en-US" altLang="ja-JP" sz="2800" dirty="0"/>
          </a:p>
          <a:p>
            <a:pPr marL="0" indent="0">
              <a:buNone/>
            </a:pPr>
            <a:r>
              <a:rPr lang="en-US" altLang="ja-JP" sz="2400" dirty="0"/>
              <a:t>    LINK</a:t>
            </a:r>
            <a:r>
              <a:rPr lang="ja-JP" altLang="en-US" sz="2400" dirty="0"/>
              <a:t> </a:t>
            </a:r>
            <a:r>
              <a:rPr lang="en-US" altLang="ja-JP" sz="2400" dirty="0"/>
              <a:t>API</a:t>
            </a:r>
            <a:r>
              <a:rPr lang="ja-JP" altLang="en-US" sz="2400" dirty="0"/>
              <a:t>の連携画面に移行</a:t>
            </a:r>
            <a:endParaRPr lang="en-US" altLang="ja-JP" sz="2400" dirty="0"/>
          </a:p>
          <a:p>
            <a:pPr marL="0" indent="0">
              <a:buNone/>
            </a:pPr>
            <a:r>
              <a:rPr kumimoji="1" lang="en-US" altLang="ja-JP" sz="2400" dirty="0"/>
              <a:t>    </a:t>
            </a:r>
            <a:r>
              <a:rPr kumimoji="1" lang="ja-JP" altLang="en-US" sz="2400" dirty="0"/>
              <a:t>アカウント作成後、口座情報を取得</a:t>
            </a:r>
            <a:endParaRPr kumimoji="1" lang="en-US" altLang="ja-JP" sz="2400" dirty="0"/>
          </a:p>
          <a:p>
            <a:pPr marL="0" indent="0">
              <a:buNone/>
            </a:pPr>
            <a:r>
              <a:rPr lang="en-US" altLang="ja-JP" sz="2400" dirty="0"/>
              <a:t>    </a:t>
            </a:r>
            <a:r>
              <a:rPr lang="ja-JP" altLang="en-US" sz="2400" dirty="0"/>
              <a:t>今回は</a:t>
            </a:r>
            <a:r>
              <a:rPr lang="en-US" altLang="ja-JP" sz="2400" dirty="0"/>
              <a:t>API</a:t>
            </a:r>
            <a:r>
              <a:rPr lang="ja-JP" altLang="en-US" sz="2400" dirty="0"/>
              <a:t>が間に合わなかったのでこの画面は実装していません</a:t>
            </a:r>
            <a:endParaRPr lang="en-US" altLang="ja-JP" sz="2400" dirty="0"/>
          </a:p>
          <a:p>
            <a:pPr marL="0" indent="0">
              <a:buNone/>
            </a:pPr>
            <a:endParaRPr kumimoji="1" lang="en-US" altLang="ja-JP" sz="2400" dirty="0"/>
          </a:p>
          <a:p>
            <a:pPr marL="0" indent="0">
              <a:buNone/>
            </a:pPr>
            <a:r>
              <a:rPr lang="en-US" altLang="ja-JP" sz="2400" dirty="0"/>
              <a:t>    ※</a:t>
            </a:r>
            <a:r>
              <a:rPr lang="ja-JP" altLang="en-US" sz="2400" dirty="0"/>
              <a:t>現時点で口座情報は</a:t>
            </a:r>
            <a:r>
              <a:rPr lang="en-US" altLang="ja-JP" sz="2400" dirty="0"/>
              <a:t>API</a:t>
            </a:r>
            <a:r>
              <a:rPr lang="ja-JP" altLang="en-US" sz="2400" dirty="0"/>
              <a:t>のサンプルデータを利用しています</a:t>
            </a:r>
            <a:endParaRPr kumimoji="1" lang="ja-JP" altLang="en-US" sz="2400" dirty="0"/>
          </a:p>
        </p:txBody>
      </p:sp>
      <p:pic>
        <p:nvPicPr>
          <p:cNvPr id="6" name="図 5">
            <a:extLst>
              <a:ext uri="{FF2B5EF4-FFF2-40B4-BE49-F238E27FC236}">
                <a16:creationId xmlns:a16="http://schemas.microsoft.com/office/drawing/2014/main" id="{1CEAB098-E0BC-538C-9A9F-9ADDEF40F5B3}"/>
              </a:ext>
            </a:extLst>
          </p:cNvPr>
          <p:cNvPicPr>
            <a:picLocks noChangeAspect="1"/>
          </p:cNvPicPr>
          <p:nvPr/>
        </p:nvPicPr>
        <p:blipFill>
          <a:blip r:embed="rId2"/>
          <a:stretch>
            <a:fillRect/>
          </a:stretch>
        </p:blipFill>
        <p:spPr>
          <a:xfrm>
            <a:off x="8558039" y="1063539"/>
            <a:ext cx="3252320" cy="2281628"/>
          </a:xfrm>
          <a:prstGeom prst="rect">
            <a:avLst/>
          </a:prstGeom>
        </p:spPr>
      </p:pic>
    </p:spTree>
    <p:extLst>
      <p:ext uri="{BB962C8B-B14F-4D97-AF65-F5344CB8AC3E}">
        <p14:creationId xmlns:p14="http://schemas.microsoft.com/office/powerpoint/2010/main" val="2509504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BF502-0D4D-50D9-9C86-B77E21B428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871E7B-3D08-C95E-0AB4-255FF2363EAB}"/>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F9FCD748-08CF-ED5A-B745-01DA40F4B843}"/>
              </a:ext>
            </a:extLst>
          </p:cNvPr>
          <p:cNvSpPr>
            <a:spLocks noGrp="1"/>
          </p:cNvSpPr>
          <p:nvPr>
            <p:ph idx="1"/>
          </p:nvPr>
        </p:nvSpPr>
        <p:spPr/>
        <p:txBody>
          <a:bodyPr>
            <a:normAutofit/>
          </a:bodyPr>
          <a:lstStyle/>
          <a:p>
            <a:r>
              <a:rPr lang="ja-JP" altLang="en-US" sz="2800" dirty="0"/>
              <a:t>目標貯金額設定</a:t>
            </a:r>
            <a:r>
              <a:rPr kumimoji="1" lang="ja-JP" altLang="en-US" sz="2800" dirty="0"/>
              <a:t>画面</a:t>
            </a:r>
            <a:endParaRPr kumimoji="1" lang="en-US" altLang="ja-JP" sz="2800" dirty="0"/>
          </a:p>
          <a:p>
            <a:pPr marL="0" indent="0">
              <a:buNone/>
            </a:pPr>
            <a:r>
              <a:rPr lang="en-US" altLang="ja-JP" sz="2400" dirty="0"/>
              <a:t>    </a:t>
            </a:r>
            <a:r>
              <a:rPr lang="ja-JP" altLang="en-US" sz="2400" dirty="0"/>
              <a:t>アプリの初回起動時に目標となる貯金額を設定</a:t>
            </a:r>
            <a:endParaRPr kumimoji="1" lang="ja-JP" altLang="en-US" sz="2400" dirty="0"/>
          </a:p>
        </p:txBody>
      </p:sp>
      <p:pic>
        <p:nvPicPr>
          <p:cNvPr id="5" name="図 4">
            <a:extLst>
              <a:ext uri="{FF2B5EF4-FFF2-40B4-BE49-F238E27FC236}">
                <a16:creationId xmlns:a16="http://schemas.microsoft.com/office/drawing/2014/main" id="{0C9CEFAB-9754-3893-30E3-209D5B1ADBAF}"/>
              </a:ext>
            </a:extLst>
          </p:cNvPr>
          <p:cNvPicPr>
            <a:picLocks noChangeAspect="1"/>
          </p:cNvPicPr>
          <p:nvPr/>
        </p:nvPicPr>
        <p:blipFill>
          <a:blip r:embed="rId2">
            <a:clrChange>
              <a:clrFrom>
                <a:srgbClr val="F7F8FA"/>
              </a:clrFrom>
              <a:clrTo>
                <a:srgbClr val="F7F8FA">
                  <a:alpha val="0"/>
                </a:srgbClr>
              </a:clrTo>
            </a:clrChange>
          </a:blip>
          <a:stretch>
            <a:fillRect/>
          </a:stretch>
        </p:blipFill>
        <p:spPr>
          <a:xfrm>
            <a:off x="8817696" y="369000"/>
            <a:ext cx="3028090" cy="6120000"/>
          </a:xfrm>
          <a:prstGeom prst="rect">
            <a:avLst/>
          </a:prstGeom>
        </p:spPr>
      </p:pic>
    </p:spTree>
    <p:extLst>
      <p:ext uri="{BB962C8B-B14F-4D97-AF65-F5344CB8AC3E}">
        <p14:creationId xmlns:p14="http://schemas.microsoft.com/office/powerpoint/2010/main" val="226109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89695-90FE-E8B2-8E96-CFE9779B64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3EC54A-0820-0E5F-C333-0133A1EEB78A}"/>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B3E23699-FE18-EED1-7BF6-0D2005A32AC7}"/>
              </a:ext>
            </a:extLst>
          </p:cNvPr>
          <p:cNvSpPr>
            <a:spLocks noGrp="1"/>
          </p:cNvSpPr>
          <p:nvPr>
            <p:ph idx="1"/>
          </p:nvPr>
        </p:nvSpPr>
        <p:spPr/>
        <p:txBody>
          <a:bodyPr>
            <a:normAutofit/>
          </a:bodyPr>
          <a:lstStyle/>
          <a:p>
            <a:r>
              <a:rPr lang="ja-JP" altLang="en-US" sz="2800" dirty="0"/>
              <a:t>名前設定</a:t>
            </a:r>
            <a:r>
              <a:rPr kumimoji="1" lang="ja-JP" altLang="en-US" sz="2800" dirty="0"/>
              <a:t>画面</a:t>
            </a:r>
            <a:endParaRPr kumimoji="1" lang="en-US" altLang="ja-JP" sz="2800" dirty="0"/>
          </a:p>
          <a:p>
            <a:pPr marL="0" indent="0">
              <a:buNone/>
            </a:pPr>
            <a:r>
              <a:rPr lang="en-US" altLang="ja-JP" sz="2400" dirty="0"/>
              <a:t>    </a:t>
            </a:r>
            <a:r>
              <a:rPr lang="ja-JP" altLang="en-US" sz="2400" dirty="0"/>
              <a:t>こぶたの名前を自由に設定</a:t>
            </a:r>
            <a:endParaRPr kumimoji="1" lang="ja-JP" altLang="en-US" sz="2400" dirty="0"/>
          </a:p>
        </p:txBody>
      </p:sp>
      <p:pic>
        <p:nvPicPr>
          <p:cNvPr id="5" name="図 4">
            <a:extLst>
              <a:ext uri="{FF2B5EF4-FFF2-40B4-BE49-F238E27FC236}">
                <a16:creationId xmlns:a16="http://schemas.microsoft.com/office/drawing/2014/main" id="{082ABB30-465A-3EFF-BE6E-93C22DDCC06F}"/>
              </a:ext>
            </a:extLst>
          </p:cNvPr>
          <p:cNvPicPr>
            <a:picLocks noChangeAspect="1"/>
          </p:cNvPicPr>
          <p:nvPr/>
        </p:nvPicPr>
        <p:blipFill>
          <a:blip r:embed="rId2">
            <a:clrChange>
              <a:clrFrom>
                <a:srgbClr val="F7F8FA"/>
              </a:clrFrom>
              <a:clrTo>
                <a:srgbClr val="F7F8FA">
                  <a:alpha val="0"/>
                </a:srgbClr>
              </a:clrTo>
            </a:clrChange>
          </a:blip>
          <a:stretch>
            <a:fillRect/>
          </a:stretch>
        </p:blipFill>
        <p:spPr>
          <a:xfrm>
            <a:off x="8786052" y="369000"/>
            <a:ext cx="3057131" cy="6120000"/>
          </a:xfrm>
          <a:prstGeom prst="rect">
            <a:avLst/>
          </a:prstGeom>
        </p:spPr>
      </p:pic>
    </p:spTree>
    <p:extLst>
      <p:ext uri="{BB962C8B-B14F-4D97-AF65-F5344CB8AC3E}">
        <p14:creationId xmlns:p14="http://schemas.microsoft.com/office/powerpoint/2010/main" val="4277955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94BB3-4D65-D3BD-0AEA-F84CE587D5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89B4C9-A065-11AA-394E-F282D9D596D6}"/>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0E8B3D0A-3F96-3F90-1A9C-FA6614877588}"/>
              </a:ext>
            </a:extLst>
          </p:cNvPr>
          <p:cNvSpPr>
            <a:spLocks noGrp="1"/>
          </p:cNvSpPr>
          <p:nvPr>
            <p:ph idx="1"/>
          </p:nvPr>
        </p:nvSpPr>
        <p:spPr/>
        <p:txBody>
          <a:bodyPr>
            <a:normAutofit/>
          </a:bodyPr>
          <a:lstStyle/>
          <a:p>
            <a:r>
              <a:rPr lang="ja-JP" altLang="en-US" sz="2800" dirty="0"/>
              <a:t>メイン</a:t>
            </a:r>
            <a:r>
              <a:rPr kumimoji="1" lang="ja-JP" altLang="en-US" sz="2800" dirty="0"/>
              <a:t>画面</a:t>
            </a:r>
            <a:endParaRPr kumimoji="1" lang="en-US" altLang="ja-JP" sz="2800" dirty="0"/>
          </a:p>
          <a:p>
            <a:pPr marL="0" indent="0">
              <a:buNone/>
            </a:pPr>
            <a:r>
              <a:rPr lang="en-US" altLang="ja-JP" sz="2400" dirty="0"/>
              <a:t>    </a:t>
            </a:r>
            <a:r>
              <a:rPr lang="ja-JP" altLang="en-US" sz="2400" dirty="0"/>
              <a:t>貯金状況を一目で確認できる</a:t>
            </a:r>
            <a:endParaRPr lang="en-US" altLang="ja-JP" sz="2400" dirty="0"/>
          </a:p>
          <a:p>
            <a:pPr marL="0" indent="0">
              <a:buNone/>
            </a:pPr>
            <a:r>
              <a:rPr kumimoji="1" lang="en-US" altLang="ja-JP" sz="2400" dirty="0"/>
              <a:t>    </a:t>
            </a:r>
            <a:r>
              <a:rPr kumimoji="1" lang="ja-JP" altLang="en-US" sz="2400" dirty="0"/>
              <a:t>お金ボタンをタップで貯金</a:t>
            </a:r>
            <a:endParaRPr kumimoji="1" lang="en-US" altLang="ja-JP" sz="2400" dirty="0"/>
          </a:p>
          <a:p>
            <a:pPr marL="0" indent="0">
              <a:buNone/>
            </a:pPr>
            <a:r>
              <a:rPr lang="en-US" altLang="ja-JP" sz="2400" dirty="0"/>
              <a:t>    </a:t>
            </a:r>
            <a:r>
              <a:rPr lang="ja-JP" altLang="en-US" sz="2400" dirty="0"/>
              <a:t>それぞれのボタンをタップで画面遷移</a:t>
            </a:r>
            <a:endParaRPr kumimoji="1" lang="ja-JP" altLang="en-US" sz="2400" dirty="0"/>
          </a:p>
        </p:txBody>
      </p:sp>
      <p:pic>
        <p:nvPicPr>
          <p:cNvPr id="5" name="図 4">
            <a:extLst>
              <a:ext uri="{FF2B5EF4-FFF2-40B4-BE49-F238E27FC236}">
                <a16:creationId xmlns:a16="http://schemas.microsoft.com/office/drawing/2014/main" id="{72534A36-3D4D-1056-60FA-2350227DC8A9}"/>
              </a:ext>
            </a:extLst>
          </p:cNvPr>
          <p:cNvPicPr>
            <a:picLocks noChangeAspect="1"/>
          </p:cNvPicPr>
          <p:nvPr/>
        </p:nvPicPr>
        <p:blipFill>
          <a:blip r:embed="rId2">
            <a:clrChange>
              <a:clrFrom>
                <a:srgbClr val="F7F8FA"/>
              </a:clrFrom>
              <a:clrTo>
                <a:srgbClr val="F7F8FA">
                  <a:alpha val="0"/>
                </a:srgbClr>
              </a:clrTo>
            </a:clrChange>
          </a:blip>
          <a:stretch>
            <a:fillRect/>
          </a:stretch>
        </p:blipFill>
        <p:spPr>
          <a:xfrm>
            <a:off x="8872079" y="369000"/>
            <a:ext cx="2944745" cy="6120000"/>
          </a:xfrm>
          <a:prstGeom prst="rect">
            <a:avLst/>
          </a:prstGeom>
        </p:spPr>
      </p:pic>
    </p:spTree>
    <p:extLst>
      <p:ext uri="{BB962C8B-B14F-4D97-AF65-F5344CB8AC3E}">
        <p14:creationId xmlns:p14="http://schemas.microsoft.com/office/powerpoint/2010/main" val="2223782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AD467-BEAF-93EF-4ED9-2FA91BF316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A2A52F-9958-2B69-44CB-A7460B6DCD97}"/>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BFE635A7-88AE-0AE1-9F6F-66D94C415CB6}"/>
              </a:ext>
            </a:extLst>
          </p:cNvPr>
          <p:cNvSpPr>
            <a:spLocks noGrp="1"/>
          </p:cNvSpPr>
          <p:nvPr>
            <p:ph idx="1"/>
          </p:nvPr>
        </p:nvSpPr>
        <p:spPr/>
        <p:txBody>
          <a:bodyPr>
            <a:normAutofit/>
          </a:bodyPr>
          <a:lstStyle/>
          <a:p>
            <a:r>
              <a:rPr kumimoji="1" lang="ja-JP" altLang="en-US" sz="2800" dirty="0"/>
              <a:t>ミッション画面</a:t>
            </a:r>
            <a:endParaRPr kumimoji="1" lang="en-US" altLang="ja-JP" sz="2800" dirty="0"/>
          </a:p>
          <a:p>
            <a:pPr marL="0" indent="0">
              <a:buNone/>
            </a:pPr>
            <a:r>
              <a:rPr lang="en-US" altLang="ja-JP" sz="2400" dirty="0"/>
              <a:t>    </a:t>
            </a:r>
            <a:r>
              <a:rPr lang="ja-JP" altLang="en-US" sz="2400" dirty="0"/>
              <a:t>日々の貯金目標やタスクを表示</a:t>
            </a:r>
            <a:endParaRPr lang="en-US" altLang="ja-JP" sz="2400" dirty="0"/>
          </a:p>
          <a:p>
            <a:pPr marL="0" indent="0">
              <a:buNone/>
            </a:pPr>
            <a:r>
              <a:rPr kumimoji="1" lang="en-US" altLang="ja-JP" sz="2400" dirty="0"/>
              <a:t>    </a:t>
            </a:r>
            <a:r>
              <a:rPr kumimoji="1" lang="ja-JP" altLang="en-US" sz="2400" dirty="0"/>
              <a:t>達成でゲーム内コインを獲得</a:t>
            </a:r>
          </a:p>
        </p:txBody>
      </p:sp>
      <p:pic>
        <p:nvPicPr>
          <p:cNvPr id="5" name="図 4">
            <a:extLst>
              <a:ext uri="{FF2B5EF4-FFF2-40B4-BE49-F238E27FC236}">
                <a16:creationId xmlns:a16="http://schemas.microsoft.com/office/drawing/2014/main" id="{95422274-027B-1CBD-2CC8-C5E195B9A57A}"/>
              </a:ext>
            </a:extLst>
          </p:cNvPr>
          <p:cNvPicPr>
            <a:picLocks noChangeAspect="1"/>
          </p:cNvPicPr>
          <p:nvPr/>
        </p:nvPicPr>
        <p:blipFill>
          <a:blip r:embed="rId2">
            <a:clrChange>
              <a:clrFrom>
                <a:srgbClr val="F7F8FA"/>
              </a:clrFrom>
              <a:clrTo>
                <a:srgbClr val="F7F8FA">
                  <a:alpha val="0"/>
                </a:srgbClr>
              </a:clrTo>
            </a:clrChange>
          </a:blip>
          <a:stretch>
            <a:fillRect/>
          </a:stretch>
        </p:blipFill>
        <p:spPr>
          <a:xfrm>
            <a:off x="8895097" y="369000"/>
            <a:ext cx="2999661" cy="6120000"/>
          </a:xfrm>
          <a:prstGeom prst="rect">
            <a:avLst/>
          </a:prstGeom>
        </p:spPr>
      </p:pic>
    </p:spTree>
    <p:extLst>
      <p:ext uri="{BB962C8B-B14F-4D97-AF65-F5344CB8AC3E}">
        <p14:creationId xmlns:p14="http://schemas.microsoft.com/office/powerpoint/2010/main" val="767418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799C7-A79D-1EE2-0FC4-55AF28472B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BDB55B-87DB-DBDD-47C8-DA78041405CE}"/>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773720D9-187D-D9A6-2D30-FA98E80A511F}"/>
              </a:ext>
            </a:extLst>
          </p:cNvPr>
          <p:cNvSpPr>
            <a:spLocks noGrp="1"/>
          </p:cNvSpPr>
          <p:nvPr>
            <p:ph idx="1"/>
          </p:nvPr>
        </p:nvSpPr>
        <p:spPr/>
        <p:txBody>
          <a:bodyPr>
            <a:normAutofit/>
          </a:bodyPr>
          <a:lstStyle/>
          <a:p>
            <a:r>
              <a:rPr kumimoji="1" lang="ja-JP" altLang="en-US" sz="2800" dirty="0"/>
              <a:t>設定画面</a:t>
            </a:r>
            <a:endParaRPr kumimoji="1" lang="en-US" altLang="ja-JP" sz="2800" dirty="0"/>
          </a:p>
          <a:p>
            <a:pPr marL="0" indent="0">
              <a:buNone/>
            </a:pPr>
            <a:r>
              <a:rPr lang="en-US" altLang="ja-JP" sz="2400" dirty="0"/>
              <a:t>    </a:t>
            </a:r>
            <a:r>
              <a:rPr lang="ja-JP" altLang="en-US" sz="2400" dirty="0"/>
              <a:t>通知設定や目標金額の再設定</a:t>
            </a:r>
            <a:endParaRPr kumimoji="1" lang="ja-JP" altLang="en-US" sz="2400" dirty="0"/>
          </a:p>
        </p:txBody>
      </p:sp>
      <p:pic>
        <p:nvPicPr>
          <p:cNvPr id="5" name="図 4">
            <a:extLst>
              <a:ext uri="{FF2B5EF4-FFF2-40B4-BE49-F238E27FC236}">
                <a16:creationId xmlns:a16="http://schemas.microsoft.com/office/drawing/2014/main" id="{91DE971C-A231-329B-B1D1-BE65617F1087}"/>
              </a:ext>
            </a:extLst>
          </p:cNvPr>
          <p:cNvPicPr>
            <a:picLocks noChangeAspect="1"/>
          </p:cNvPicPr>
          <p:nvPr/>
        </p:nvPicPr>
        <p:blipFill>
          <a:blip r:embed="rId2">
            <a:clrChange>
              <a:clrFrom>
                <a:srgbClr val="F2F2F2"/>
              </a:clrFrom>
              <a:clrTo>
                <a:srgbClr val="F2F2F2">
                  <a:alpha val="0"/>
                </a:srgbClr>
              </a:clrTo>
            </a:clrChange>
          </a:blip>
          <a:stretch>
            <a:fillRect/>
          </a:stretch>
        </p:blipFill>
        <p:spPr>
          <a:xfrm>
            <a:off x="8855669" y="369000"/>
            <a:ext cx="2986893" cy="6120000"/>
          </a:xfrm>
          <a:prstGeom prst="rect">
            <a:avLst/>
          </a:prstGeom>
        </p:spPr>
      </p:pic>
    </p:spTree>
    <p:extLst>
      <p:ext uri="{BB962C8B-B14F-4D97-AF65-F5344CB8AC3E}">
        <p14:creationId xmlns:p14="http://schemas.microsoft.com/office/powerpoint/2010/main" val="1075460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A4CB-24A2-DCC7-1AE1-189E4E7AD4F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B95398-5A86-8B2D-CC70-062E75F91732}"/>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1CF03D98-7843-F31B-0603-1590D2835112}"/>
              </a:ext>
            </a:extLst>
          </p:cNvPr>
          <p:cNvSpPr>
            <a:spLocks noGrp="1"/>
          </p:cNvSpPr>
          <p:nvPr>
            <p:ph idx="1"/>
          </p:nvPr>
        </p:nvSpPr>
        <p:spPr/>
        <p:txBody>
          <a:bodyPr>
            <a:normAutofit/>
          </a:bodyPr>
          <a:lstStyle/>
          <a:p>
            <a:r>
              <a:rPr kumimoji="1" lang="ja-JP" altLang="en-US" sz="2800" dirty="0"/>
              <a:t>アイテム画面</a:t>
            </a:r>
            <a:endParaRPr kumimoji="1" lang="en-US" altLang="ja-JP" sz="2800" dirty="0"/>
          </a:p>
          <a:p>
            <a:pPr marL="0" indent="0">
              <a:buNone/>
            </a:pPr>
            <a:r>
              <a:rPr kumimoji="1" lang="en-US" altLang="ja-JP" sz="2400" dirty="0"/>
              <a:t>    </a:t>
            </a:r>
            <a:r>
              <a:rPr kumimoji="1" lang="ja-JP" altLang="en-US" sz="2400" dirty="0"/>
              <a:t>貯金の達成度に応じて取得できるアイテムを確認</a:t>
            </a:r>
            <a:endParaRPr kumimoji="1" lang="en-US" altLang="ja-JP" sz="2400" dirty="0"/>
          </a:p>
          <a:p>
            <a:pPr marL="0" indent="0">
              <a:buNone/>
            </a:pPr>
            <a:r>
              <a:rPr lang="en-US" altLang="ja-JP" sz="2400" dirty="0"/>
              <a:t>    </a:t>
            </a:r>
            <a:r>
              <a:rPr lang="ja-JP" altLang="en-US" sz="2400" dirty="0"/>
              <a:t>こぶたの着せ替えが可能</a:t>
            </a:r>
            <a:endParaRPr kumimoji="1" lang="ja-JP" altLang="en-US" sz="2400" dirty="0"/>
          </a:p>
        </p:txBody>
      </p:sp>
      <p:pic>
        <p:nvPicPr>
          <p:cNvPr id="5" name="図 4">
            <a:extLst>
              <a:ext uri="{FF2B5EF4-FFF2-40B4-BE49-F238E27FC236}">
                <a16:creationId xmlns:a16="http://schemas.microsoft.com/office/drawing/2014/main" id="{CD27C822-D6BB-B417-7871-0779C3205872}"/>
              </a:ext>
            </a:extLst>
          </p:cNvPr>
          <p:cNvPicPr>
            <a:picLocks noChangeAspect="1"/>
          </p:cNvPicPr>
          <p:nvPr/>
        </p:nvPicPr>
        <p:blipFill>
          <a:blip r:embed="rId2">
            <a:clrChange>
              <a:clrFrom>
                <a:srgbClr val="F7F8FA"/>
              </a:clrFrom>
              <a:clrTo>
                <a:srgbClr val="F7F8FA">
                  <a:alpha val="0"/>
                </a:srgbClr>
              </a:clrTo>
            </a:clrChange>
          </a:blip>
          <a:stretch>
            <a:fillRect/>
          </a:stretch>
        </p:blipFill>
        <p:spPr>
          <a:xfrm>
            <a:off x="8867335" y="369000"/>
            <a:ext cx="2927208" cy="6120000"/>
          </a:xfrm>
          <a:prstGeom prst="rect">
            <a:avLst/>
          </a:prstGeom>
        </p:spPr>
      </p:pic>
    </p:spTree>
    <p:extLst>
      <p:ext uri="{BB962C8B-B14F-4D97-AF65-F5344CB8AC3E}">
        <p14:creationId xmlns:p14="http://schemas.microsoft.com/office/powerpoint/2010/main" val="4129659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75D7C-41F5-571D-AB9D-D90586AB3B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37F3B1-EB32-CA5B-1DA5-99266D3D80E1}"/>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2BE3B439-E8F1-1ECB-0AF2-F7A070DE5B7C}"/>
              </a:ext>
            </a:extLst>
          </p:cNvPr>
          <p:cNvSpPr>
            <a:spLocks noGrp="1"/>
          </p:cNvSpPr>
          <p:nvPr>
            <p:ph idx="1"/>
          </p:nvPr>
        </p:nvSpPr>
        <p:spPr/>
        <p:txBody>
          <a:bodyPr>
            <a:normAutofit/>
          </a:bodyPr>
          <a:lstStyle/>
          <a:p>
            <a:r>
              <a:rPr kumimoji="1" lang="ja-JP" altLang="en-US" sz="2800" dirty="0"/>
              <a:t>庭画面</a:t>
            </a:r>
            <a:endParaRPr kumimoji="1" lang="en-US" altLang="ja-JP" sz="2800" dirty="0"/>
          </a:p>
          <a:p>
            <a:pPr marL="0" indent="0">
              <a:buNone/>
            </a:pPr>
            <a:r>
              <a:rPr lang="en-US" altLang="ja-JP" sz="2400" dirty="0"/>
              <a:t>    </a:t>
            </a:r>
            <a:r>
              <a:rPr lang="ja-JP" altLang="en-US" sz="2400" dirty="0"/>
              <a:t>以前達成した貯金のこぶたが庭で暮らす様子を表示</a:t>
            </a:r>
            <a:endParaRPr lang="en-US" altLang="ja-JP" sz="2400" dirty="0"/>
          </a:p>
          <a:p>
            <a:pPr marL="0" indent="0">
              <a:buNone/>
            </a:pPr>
            <a:r>
              <a:rPr kumimoji="1" lang="en-US" altLang="ja-JP" sz="2400" dirty="0"/>
              <a:t>    </a:t>
            </a:r>
            <a:r>
              <a:rPr lang="ja-JP" altLang="en-US" sz="2400" dirty="0"/>
              <a:t>季節・時間帯によって背景が変わります</a:t>
            </a:r>
            <a:endParaRPr kumimoji="1" lang="ja-JP" altLang="en-US" sz="2400" dirty="0"/>
          </a:p>
        </p:txBody>
      </p:sp>
      <p:pic>
        <p:nvPicPr>
          <p:cNvPr id="5" name="図 4">
            <a:extLst>
              <a:ext uri="{FF2B5EF4-FFF2-40B4-BE49-F238E27FC236}">
                <a16:creationId xmlns:a16="http://schemas.microsoft.com/office/drawing/2014/main" id="{D4346ED4-4F1E-4652-8521-B76BA78D1F61}"/>
              </a:ext>
            </a:extLst>
          </p:cNvPr>
          <p:cNvPicPr>
            <a:picLocks noChangeAspect="1"/>
          </p:cNvPicPr>
          <p:nvPr/>
        </p:nvPicPr>
        <p:blipFill>
          <a:blip r:embed="rId2">
            <a:clrChange>
              <a:clrFrom>
                <a:srgbClr val="F2F2F2"/>
              </a:clrFrom>
              <a:clrTo>
                <a:srgbClr val="F2F2F2">
                  <a:alpha val="0"/>
                </a:srgbClr>
              </a:clrTo>
            </a:clrChange>
          </a:blip>
          <a:stretch>
            <a:fillRect/>
          </a:stretch>
        </p:blipFill>
        <p:spPr>
          <a:xfrm>
            <a:off x="8876770" y="369000"/>
            <a:ext cx="2949239" cy="6120000"/>
          </a:xfrm>
          <a:prstGeom prst="rect">
            <a:avLst/>
          </a:prstGeom>
        </p:spPr>
      </p:pic>
    </p:spTree>
    <p:extLst>
      <p:ext uri="{BB962C8B-B14F-4D97-AF65-F5344CB8AC3E}">
        <p14:creationId xmlns:p14="http://schemas.microsoft.com/office/powerpoint/2010/main" val="1871037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BCA80-A617-E763-C7C7-A442BD9E41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C1F4D0-3851-EA71-1614-F30FB59955E7}"/>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3E38CCE5-4B23-5493-543B-2249D022971F}"/>
              </a:ext>
            </a:extLst>
          </p:cNvPr>
          <p:cNvSpPr>
            <a:spLocks noGrp="1"/>
          </p:cNvSpPr>
          <p:nvPr>
            <p:ph idx="1"/>
          </p:nvPr>
        </p:nvSpPr>
        <p:spPr/>
        <p:txBody>
          <a:bodyPr>
            <a:normAutofit/>
          </a:bodyPr>
          <a:lstStyle/>
          <a:p>
            <a:r>
              <a:rPr kumimoji="1" lang="ja-JP" altLang="en-US" sz="2800" dirty="0"/>
              <a:t>グラフ画面</a:t>
            </a:r>
            <a:endParaRPr kumimoji="1" lang="en-US" altLang="ja-JP" sz="2800" dirty="0"/>
          </a:p>
          <a:p>
            <a:pPr marL="0" indent="0">
              <a:buNone/>
            </a:pPr>
            <a:r>
              <a:rPr kumimoji="1" lang="en-US" altLang="ja-JP" sz="2400" dirty="0"/>
              <a:t>    </a:t>
            </a:r>
            <a:r>
              <a:rPr kumimoji="1" lang="ja-JP" altLang="en-US" sz="2400" dirty="0"/>
              <a:t>貯金の進捗状況をグラフ化</a:t>
            </a:r>
            <a:endParaRPr lang="en-US" altLang="ja-JP" sz="2400" dirty="0"/>
          </a:p>
          <a:p>
            <a:pPr marL="0" indent="0">
              <a:buNone/>
            </a:pPr>
            <a:r>
              <a:rPr kumimoji="1" lang="en-US" altLang="ja-JP" sz="2400" dirty="0"/>
              <a:t>    </a:t>
            </a:r>
            <a:r>
              <a:rPr kumimoji="1" lang="ja-JP" altLang="en-US" sz="2400" dirty="0"/>
              <a:t>スマホのカレンダーと連携しています</a:t>
            </a:r>
            <a:endParaRPr lang="en-US" altLang="ja-JP" sz="2400" dirty="0"/>
          </a:p>
          <a:p>
            <a:pPr marL="0" indent="0">
              <a:buNone/>
            </a:pPr>
            <a:r>
              <a:rPr lang="ja-JP" altLang="en-US" sz="2400" dirty="0"/>
              <a:t>    期間選択ができ参照したい期間の貯金額のデータを</a:t>
            </a:r>
            <a:endParaRPr lang="en-US" altLang="ja-JP" sz="2400" dirty="0"/>
          </a:p>
          <a:p>
            <a:pPr marL="0" indent="0">
              <a:buNone/>
            </a:pPr>
            <a:r>
              <a:rPr lang="en-US" altLang="ja-JP" sz="2400" dirty="0"/>
              <a:t>    </a:t>
            </a:r>
            <a:r>
              <a:rPr lang="ja-JP" altLang="en-US" sz="2400" dirty="0"/>
              <a:t>グラフで確認できます</a:t>
            </a:r>
            <a:endParaRPr kumimoji="1" lang="en-US" altLang="ja-JP" sz="2400" dirty="0"/>
          </a:p>
        </p:txBody>
      </p:sp>
      <p:pic>
        <p:nvPicPr>
          <p:cNvPr id="5" name="図 4">
            <a:extLst>
              <a:ext uri="{FF2B5EF4-FFF2-40B4-BE49-F238E27FC236}">
                <a16:creationId xmlns:a16="http://schemas.microsoft.com/office/drawing/2014/main" id="{36E970ED-1BDB-6BFF-AE10-5597FC8D474E}"/>
              </a:ext>
            </a:extLst>
          </p:cNvPr>
          <p:cNvPicPr>
            <a:picLocks noChangeAspect="1"/>
          </p:cNvPicPr>
          <p:nvPr/>
        </p:nvPicPr>
        <p:blipFill>
          <a:blip r:embed="rId2">
            <a:clrChange>
              <a:clrFrom>
                <a:srgbClr val="F2F2F2"/>
              </a:clrFrom>
              <a:clrTo>
                <a:srgbClr val="F2F2F2">
                  <a:alpha val="0"/>
                </a:srgbClr>
              </a:clrTo>
            </a:clrChange>
          </a:blip>
          <a:stretch>
            <a:fillRect/>
          </a:stretch>
        </p:blipFill>
        <p:spPr>
          <a:xfrm>
            <a:off x="8890863" y="369000"/>
            <a:ext cx="2897510" cy="6120000"/>
          </a:xfrm>
          <a:prstGeom prst="rect">
            <a:avLst/>
          </a:prstGeom>
        </p:spPr>
      </p:pic>
      <p:pic>
        <p:nvPicPr>
          <p:cNvPr id="7" name="図 6">
            <a:extLst>
              <a:ext uri="{FF2B5EF4-FFF2-40B4-BE49-F238E27FC236}">
                <a16:creationId xmlns:a16="http://schemas.microsoft.com/office/drawing/2014/main" id="{CDC3DC0B-6E1C-49C9-E657-9C947109074F}"/>
              </a:ext>
            </a:extLst>
          </p:cNvPr>
          <p:cNvPicPr>
            <a:picLocks noChangeAspect="1"/>
          </p:cNvPicPr>
          <p:nvPr/>
        </p:nvPicPr>
        <p:blipFill>
          <a:blip r:embed="rId3">
            <a:clrChange>
              <a:clrFrom>
                <a:srgbClr val="F2F2F2"/>
              </a:clrFrom>
              <a:clrTo>
                <a:srgbClr val="F2F2F2">
                  <a:alpha val="0"/>
                </a:srgbClr>
              </a:clrTo>
            </a:clrChange>
          </a:blip>
          <a:stretch>
            <a:fillRect/>
          </a:stretch>
        </p:blipFill>
        <p:spPr>
          <a:xfrm>
            <a:off x="8890863" y="369000"/>
            <a:ext cx="2899681" cy="6120000"/>
          </a:xfrm>
          <a:prstGeom prst="rect">
            <a:avLst/>
          </a:prstGeom>
        </p:spPr>
      </p:pic>
      <p:pic>
        <p:nvPicPr>
          <p:cNvPr id="9" name="図 8">
            <a:extLst>
              <a:ext uri="{FF2B5EF4-FFF2-40B4-BE49-F238E27FC236}">
                <a16:creationId xmlns:a16="http://schemas.microsoft.com/office/drawing/2014/main" id="{0094DEB1-02F7-15BD-4D04-F1118EE5EDB0}"/>
              </a:ext>
            </a:extLst>
          </p:cNvPr>
          <p:cNvPicPr>
            <a:picLocks noChangeAspect="1"/>
          </p:cNvPicPr>
          <p:nvPr/>
        </p:nvPicPr>
        <p:blipFill>
          <a:blip r:embed="rId4">
            <a:clrChange>
              <a:clrFrom>
                <a:srgbClr val="F2F2F2"/>
              </a:clrFrom>
              <a:clrTo>
                <a:srgbClr val="F2F2F2">
                  <a:alpha val="0"/>
                </a:srgbClr>
              </a:clrTo>
            </a:clrChange>
          </a:blip>
          <a:stretch>
            <a:fillRect/>
          </a:stretch>
        </p:blipFill>
        <p:spPr>
          <a:xfrm>
            <a:off x="8888692" y="369000"/>
            <a:ext cx="2888241" cy="6120000"/>
          </a:xfrm>
          <a:prstGeom prst="rect">
            <a:avLst/>
          </a:prstGeom>
        </p:spPr>
      </p:pic>
      <p:pic>
        <p:nvPicPr>
          <p:cNvPr id="11" name="図 10">
            <a:extLst>
              <a:ext uri="{FF2B5EF4-FFF2-40B4-BE49-F238E27FC236}">
                <a16:creationId xmlns:a16="http://schemas.microsoft.com/office/drawing/2014/main" id="{3D474703-A97A-A4F0-B307-B7DD870152B4}"/>
              </a:ext>
            </a:extLst>
          </p:cNvPr>
          <p:cNvPicPr>
            <a:picLocks noChangeAspect="1"/>
          </p:cNvPicPr>
          <p:nvPr/>
        </p:nvPicPr>
        <p:blipFill>
          <a:blip r:embed="rId5">
            <a:clrChange>
              <a:clrFrom>
                <a:srgbClr val="F2F2F2"/>
              </a:clrFrom>
              <a:clrTo>
                <a:srgbClr val="F2F2F2">
                  <a:alpha val="0"/>
                </a:srgbClr>
              </a:clrTo>
            </a:clrChange>
          </a:blip>
          <a:stretch>
            <a:fillRect/>
          </a:stretch>
        </p:blipFill>
        <p:spPr>
          <a:xfrm>
            <a:off x="8871370" y="369000"/>
            <a:ext cx="2936495" cy="6120000"/>
          </a:xfrm>
          <a:prstGeom prst="rect">
            <a:avLst/>
          </a:prstGeom>
        </p:spPr>
      </p:pic>
      <p:pic>
        <p:nvPicPr>
          <p:cNvPr id="13" name="図 12">
            <a:extLst>
              <a:ext uri="{FF2B5EF4-FFF2-40B4-BE49-F238E27FC236}">
                <a16:creationId xmlns:a16="http://schemas.microsoft.com/office/drawing/2014/main" id="{2D212BF1-368D-0FBF-8CC6-5C4DFE370B9A}"/>
              </a:ext>
            </a:extLst>
          </p:cNvPr>
          <p:cNvPicPr>
            <a:picLocks noChangeAspect="1"/>
          </p:cNvPicPr>
          <p:nvPr/>
        </p:nvPicPr>
        <p:blipFill>
          <a:blip r:embed="rId6">
            <a:clrChange>
              <a:clrFrom>
                <a:srgbClr val="F2F2F2"/>
              </a:clrFrom>
              <a:clrTo>
                <a:srgbClr val="F2F2F2">
                  <a:alpha val="0"/>
                </a:srgbClr>
              </a:clrTo>
            </a:clrChange>
          </a:blip>
          <a:stretch>
            <a:fillRect/>
          </a:stretch>
        </p:blipFill>
        <p:spPr>
          <a:xfrm>
            <a:off x="8906210" y="369000"/>
            <a:ext cx="2910315" cy="6120000"/>
          </a:xfrm>
          <a:prstGeom prst="rect">
            <a:avLst/>
          </a:prstGeom>
        </p:spPr>
      </p:pic>
    </p:spTree>
    <p:extLst>
      <p:ext uri="{BB962C8B-B14F-4D97-AF65-F5344CB8AC3E}">
        <p14:creationId xmlns:p14="http://schemas.microsoft.com/office/powerpoint/2010/main" val="358634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11"/>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3DE7-FB4A-8A48-8BCE-3D68756E7A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E20C96-531A-CC36-0BF5-5A80E188EEB8}"/>
              </a:ext>
            </a:extLst>
          </p:cNvPr>
          <p:cNvSpPr>
            <a:spLocks noGrp="1"/>
          </p:cNvSpPr>
          <p:nvPr>
            <p:ph type="title"/>
          </p:nvPr>
        </p:nvSpPr>
        <p:spPr/>
        <p:txBody>
          <a:bodyPr/>
          <a:lstStyle/>
          <a:p>
            <a:r>
              <a:rPr kumimoji="1" lang="ja-JP" altLang="en-US" dirty="0"/>
              <a:t>アプリ概要</a:t>
            </a:r>
          </a:p>
        </p:txBody>
      </p:sp>
      <p:sp>
        <p:nvSpPr>
          <p:cNvPr id="3" name="コンテンツ プレースホルダー 2">
            <a:extLst>
              <a:ext uri="{FF2B5EF4-FFF2-40B4-BE49-F238E27FC236}">
                <a16:creationId xmlns:a16="http://schemas.microsoft.com/office/drawing/2014/main" id="{464125BA-54CB-8D7E-26C4-A8E19E7B7F20}"/>
              </a:ext>
            </a:extLst>
          </p:cNvPr>
          <p:cNvSpPr>
            <a:spLocks noGrp="1"/>
          </p:cNvSpPr>
          <p:nvPr>
            <p:ph idx="1"/>
          </p:nvPr>
        </p:nvSpPr>
        <p:spPr/>
        <p:txBody>
          <a:bodyPr>
            <a:normAutofit/>
          </a:bodyPr>
          <a:lstStyle/>
          <a:p>
            <a:r>
              <a:rPr lang="ja-JP" altLang="en-US" sz="2800" dirty="0"/>
              <a:t>通知機能</a:t>
            </a:r>
            <a:endParaRPr kumimoji="1" lang="en-US" altLang="ja-JP" sz="2800" dirty="0"/>
          </a:p>
          <a:p>
            <a:pPr marL="0" indent="0">
              <a:buNone/>
            </a:pPr>
            <a:r>
              <a:rPr lang="en-US" altLang="ja-JP" sz="2400" dirty="0"/>
              <a:t>    </a:t>
            </a:r>
            <a:r>
              <a:rPr lang="ja-JP" altLang="en-US" sz="2400" dirty="0"/>
              <a:t>毎日通知が届いてアプリを開くきっかけになります</a:t>
            </a:r>
            <a:endParaRPr lang="en-US" altLang="ja-JP" sz="2400" dirty="0"/>
          </a:p>
          <a:p>
            <a:pPr marL="0" indent="0">
              <a:buNone/>
            </a:pPr>
            <a:r>
              <a:rPr kumimoji="1" lang="en-US" altLang="ja-JP" sz="2400" dirty="0"/>
              <a:t>    </a:t>
            </a:r>
            <a:r>
              <a:rPr kumimoji="1" lang="ja-JP" altLang="en-US" sz="2400" dirty="0"/>
              <a:t>こぶたが貯金を促すことでモチベーションにもつながります</a:t>
            </a:r>
            <a:endParaRPr kumimoji="1" lang="en-US" altLang="ja-JP" sz="2400" dirty="0"/>
          </a:p>
        </p:txBody>
      </p:sp>
      <p:pic>
        <p:nvPicPr>
          <p:cNvPr id="5" name="図 4">
            <a:extLst>
              <a:ext uri="{FF2B5EF4-FFF2-40B4-BE49-F238E27FC236}">
                <a16:creationId xmlns:a16="http://schemas.microsoft.com/office/drawing/2014/main" id="{53B9AF21-C995-A8C2-DC09-BD7BA57E5B83}"/>
              </a:ext>
            </a:extLst>
          </p:cNvPr>
          <p:cNvPicPr>
            <a:picLocks noChangeAspect="1"/>
          </p:cNvPicPr>
          <p:nvPr/>
        </p:nvPicPr>
        <p:blipFill>
          <a:blip r:embed="rId2"/>
          <a:stretch>
            <a:fillRect/>
          </a:stretch>
        </p:blipFill>
        <p:spPr>
          <a:xfrm>
            <a:off x="9465378" y="3219433"/>
            <a:ext cx="1983357" cy="3020946"/>
          </a:xfrm>
          <a:prstGeom prst="rect">
            <a:avLst/>
          </a:prstGeom>
        </p:spPr>
      </p:pic>
      <p:pic>
        <p:nvPicPr>
          <p:cNvPr id="7" name="図 6">
            <a:extLst>
              <a:ext uri="{FF2B5EF4-FFF2-40B4-BE49-F238E27FC236}">
                <a16:creationId xmlns:a16="http://schemas.microsoft.com/office/drawing/2014/main" id="{F27C1FDA-70F2-664F-01F8-072693552386}"/>
              </a:ext>
            </a:extLst>
          </p:cNvPr>
          <p:cNvPicPr>
            <a:picLocks noChangeAspect="1"/>
          </p:cNvPicPr>
          <p:nvPr/>
        </p:nvPicPr>
        <p:blipFill>
          <a:blip r:embed="rId3"/>
          <a:stretch>
            <a:fillRect/>
          </a:stretch>
        </p:blipFill>
        <p:spPr>
          <a:xfrm>
            <a:off x="9455281" y="3219433"/>
            <a:ext cx="1992539" cy="3020946"/>
          </a:xfrm>
          <a:prstGeom prst="rect">
            <a:avLst/>
          </a:prstGeom>
        </p:spPr>
      </p:pic>
    </p:spTree>
    <p:extLst>
      <p:ext uri="{BB962C8B-B14F-4D97-AF65-F5344CB8AC3E}">
        <p14:creationId xmlns:p14="http://schemas.microsoft.com/office/powerpoint/2010/main" val="429448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1F5F-7B34-AB0D-B9DA-B80FFEBC89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3AE83B-A96F-325C-C850-114AE94B96A8}"/>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0C27D936-0094-4552-0EB1-38AC97F45FAF}"/>
              </a:ext>
            </a:extLst>
          </p:cNvPr>
          <p:cNvSpPr>
            <a:spLocks noGrp="1"/>
          </p:cNvSpPr>
          <p:nvPr>
            <p:ph idx="1"/>
          </p:nvPr>
        </p:nvSpPr>
        <p:spPr/>
        <p:txBody>
          <a:bodyPr>
            <a:normAutofit/>
          </a:bodyPr>
          <a:lstStyle/>
          <a:p>
            <a:r>
              <a:rPr kumimoji="1" lang="ja-JP" altLang="en-US" sz="2800" dirty="0">
                <a:solidFill>
                  <a:schemeClr val="bg1">
                    <a:lumMod val="50000"/>
                  </a:schemeClr>
                </a:solidFill>
              </a:rPr>
              <a:t>想定利用者</a:t>
            </a:r>
            <a:endParaRPr kumimoji="1" lang="en-US" altLang="ja-JP" sz="2800" dirty="0">
              <a:solidFill>
                <a:schemeClr val="bg1">
                  <a:lumMod val="50000"/>
                </a:schemeClr>
              </a:solidFill>
            </a:endParaRPr>
          </a:p>
          <a:p>
            <a:r>
              <a:rPr lang="ja-JP" altLang="en-US" sz="2800" dirty="0">
                <a:solidFill>
                  <a:schemeClr val="bg1">
                    <a:lumMod val="50000"/>
                  </a:schemeClr>
                </a:solidFill>
              </a:rPr>
              <a:t>アプリ概要</a:t>
            </a:r>
            <a:endParaRPr lang="en-US" altLang="ja-JP" sz="2800" dirty="0">
              <a:solidFill>
                <a:schemeClr val="bg1">
                  <a:lumMod val="50000"/>
                </a:schemeClr>
              </a:solidFill>
            </a:endParaRPr>
          </a:p>
          <a:p>
            <a:pPr marL="0" indent="0">
              <a:buNone/>
            </a:pPr>
            <a:r>
              <a:rPr kumimoji="1" lang="ja-JP" altLang="en-US" sz="2800" dirty="0"/>
              <a:t>☞アプリ実演</a:t>
            </a:r>
            <a:endParaRPr kumimoji="1" lang="en-US" altLang="ja-JP" sz="2800" dirty="0"/>
          </a:p>
          <a:p>
            <a:r>
              <a:rPr lang="ja-JP" altLang="en-US" sz="2800" dirty="0">
                <a:solidFill>
                  <a:schemeClr val="bg1">
                    <a:lumMod val="50000"/>
                  </a:schemeClr>
                </a:solidFill>
              </a:rPr>
              <a:t>リリース概要</a:t>
            </a:r>
            <a:endParaRPr lang="en-US" altLang="ja-JP" sz="2800" dirty="0">
              <a:solidFill>
                <a:schemeClr val="bg1">
                  <a:lumMod val="50000"/>
                </a:schemeClr>
              </a:solidFill>
            </a:endParaRPr>
          </a:p>
          <a:p>
            <a:r>
              <a:rPr kumimoji="1" lang="ja-JP" altLang="en-US" sz="2800" dirty="0">
                <a:solidFill>
                  <a:schemeClr val="bg1">
                    <a:lumMod val="50000"/>
                  </a:schemeClr>
                </a:solidFill>
              </a:rPr>
              <a:t>開発を進める上で行った工夫</a:t>
            </a:r>
            <a:endParaRPr kumimoji="1" lang="en-US" altLang="ja-JP" sz="2800" dirty="0">
              <a:solidFill>
                <a:schemeClr val="bg1">
                  <a:lumMod val="50000"/>
                </a:schemeClr>
              </a:solidFill>
            </a:endParaRPr>
          </a:p>
          <a:p>
            <a:r>
              <a:rPr lang="ja-JP" altLang="en-US" sz="2800" dirty="0">
                <a:solidFill>
                  <a:schemeClr val="bg1">
                    <a:lumMod val="50000"/>
                  </a:schemeClr>
                </a:solidFill>
              </a:rPr>
              <a:t>開発を通じて実感したこと</a:t>
            </a:r>
            <a:endParaRPr kumimoji="1" lang="ja-JP" altLang="en-US" sz="2800" dirty="0">
              <a:solidFill>
                <a:schemeClr val="bg1">
                  <a:lumMod val="50000"/>
                </a:schemeClr>
              </a:solidFill>
            </a:endParaRPr>
          </a:p>
        </p:txBody>
      </p:sp>
    </p:spTree>
    <p:extLst>
      <p:ext uri="{BB962C8B-B14F-4D97-AF65-F5344CB8AC3E}">
        <p14:creationId xmlns:p14="http://schemas.microsoft.com/office/powerpoint/2010/main" val="1526785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5F29A-A721-F9AB-3619-2230CA5BC603}"/>
              </a:ext>
            </a:extLst>
          </p:cNvPr>
          <p:cNvSpPr>
            <a:spLocks noGrp="1"/>
          </p:cNvSpPr>
          <p:nvPr>
            <p:ph type="title"/>
          </p:nvPr>
        </p:nvSpPr>
        <p:spPr/>
        <p:txBody>
          <a:bodyPr/>
          <a:lstStyle/>
          <a:p>
            <a:r>
              <a:rPr kumimoji="1" lang="ja-JP" altLang="en-US" dirty="0"/>
              <a:t>アプリ実演</a:t>
            </a:r>
          </a:p>
        </p:txBody>
      </p:sp>
      <p:sp>
        <p:nvSpPr>
          <p:cNvPr id="5" name="コンテンツ プレースホルダー 4">
            <a:extLst>
              <a:ext uri="{FF2B5EF4-FFF2-40B4-BE49-F238E27FC236}">
                <a16:creationId xmlns:a16="http://schemas.microsoft.com/office/drawing/2014/main" id="{6A5462B2-72E4-5104-149E-2F3C089A222F}"/>
              </a:ext>
            </a:extLst>
          </p:cNvPr>
          <p:cNvSpPr>
            <a:spLocks noGrp="1"/>
          </p:cNvSpPr>
          <p:nvPr>
            <p:ph idx="1"/>
          </p:nvPr>
        </p:nvSpPr>
        <p:spPr/>
        <p:txBody>
          <a:bodyPr/>
          <a:lstStyle/>
          <a:p>
            <a:endParaRPr lang="ja-JP" altLang="en-US"/>
          </a:p>
        </p:txBody>
      </p:sp>
    </p:spTree>
    <p:extLst>
      <p:ext uri="{BB962C8B-B14F-4D97-AF65-F5344CB8AC3E}">
        <p14:creationId xmlns:p14="http://schemas.microsoft.com/office/powerpoint/2010/main" val="2935579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9A8CF-91B2-901F-36ED-C95FF266F5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07A7A3-6A1C-DBB0-9857-6702808F93ED}"/>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BF84DF34-F482-03FF-EB46-3B4E19F50204}"/>
              </a:ext>
            </a:extLst>
          </p:cNvPr>
          <p:cNvSpPr>
            <a:spLocks noGrp="1"/>
          </p:cNvSpPr>
          <p:nvPr>
            <p:ph idx="1"/>
          </p:nvPr>
        </p:nvSpPr>
        <p:spPr/>
        <p:txBody>
          <a:bodyPr>
            <a:normAutofit/>
          </a:bodyPr>
          <a:lstStyle/>
          <a:p>
            <a:r>
              <a:rPr kumimoji="1" lang="ja-JP" altLang="en-US" sz="2800" dirty="0">
                <a:solidFill>
                  <a:schemeClr val="bg1">
                    <a:lumMod val="50000"/>
                  </a:schemeClr>
                </a:solidFill>
              </a:rPr>
              <a:t>想定利用者</a:t>
            </a:r>
            <a:endParaRPr kumimoji="1" lang="en-US" altLang="ja-JP" sz="2800" dirty="0">
              <a:solidFill>
                <a:schemeClr val="bg1">
                  <a:lumMod val="50000"/>
                </a:schemeClr>
              </a:solidFill>
            </a:endParaRPr>
          </a:p>
          <a:p>
            <a:r>
              <a:rPr lang="ja-JP" altLang="en-US" sz="2800" dirty="0">
                <a:solidFill>
                  <a:schemeClr val="bg1">
                    <a:lumMod val="50000"/>
                  </a:schemeClr>
                </a:solidFill>
              </a:rPr>
              <a:t>アプリ概要</a:t>
            </a:r>
            <a:endParaRPr lang="en-US" altLang="ja-JP" sz="2800" dirty="0">
              <a:solidFill>
                <a:schemeClr val="bg1">
                  <a:lumMod val="50000"/>
                </a:schemeClr>
              </a:solidFill>
            </a:endParaRPr>
          </a:p>
          <a:p>
            <a:r>
              <a:rPr kumimoji="1" lang="ja-JP" altLang="en-US" sz="2800" dirty="0">
                <a:solidFill>
                  <a:schemeClr val="bg1">
                    <a:lumMod val="50000"/>
                  </a:schemeClr>
                </a:solidFill>
              </a:rPr>
              <a:t>アプリ実演</a:t>
            </a:r>
            <a:endParaRPr kumimoji="1" lang="en-US" altLang="ja-JP" sz="2800" dirty="0">
              <a:solidFill>
                <a:schemeClr val="bg1">
                  <a:lumMod val="50000"/>
                </a:schemeClr>
              </a:solidFill>
            </a:endParaRPr>
          </a:p>
          <a:p>
            <a:pPr marL="0" indent="0">
              <a:buNone/>
            </a:pPr>
            <a:r>
              <a:rPr lang="ja-JP" altLang="en-US" sz="2800" dirty="0"/>
              <a:t>☞リリース概要</a:t>
            </a:r>
            <a:endParaRPr lang="en-US" altLang="ja-JP" sz="2800" dirty="0"/>
          </a:p>
          <a:p>
            <a:r>
              <a:rPr kumimoji="1" lang="ja-JP" altLang="en-US" sz="2800" dirty="0">
                <a:solidFill>
                  <a:schemeClr val="bg1">
                    <a:lumMod val="50000"/>
                  </a:schemeClr>
                </a:solidFill>
              </a:rPr>
              <a:t>開発を進める上で行った工夫</a:t>
            </a:r>
            <a:endParaRPr kumimoji="1" lang="en-US" altLang="ja-JP" sz="2800" dirty="0">
              <a:solidFill>
                <a:schemeClr val="bg1">
                  <a:lumMod val="50000"/>
                </a:schemeClr>
              </a:solidFill>
            </a:endParaRPr>
          </a:p>
          <a:p>
            <a:r>
              <a:rPr lang="ja-JP" altLang="en-US" sz="2800" dirty="0">
                <a:solidFill>
                  <a:schemeClr val="bg1">
                    <a:lumMod val="50000"/>
                  </a:schemeClr>
                </a:solidFill>
              </a:rPr>
              <a:t>開発を通じて実感したこと</a:t>
            </a:r>
            <a:endParaRPr kumimoji="1" lang="ja-JP" altLang="en-US" sz="2800" dirty="0">
              <a:solidFill>
                <a:schemeClr val="bg1">
                  <a:lumMod val="50000"/>
                </a:schemeClr>
              </a:solidFill>
            </a:endParaRPr>
          </a:p>
        </p:txBody>
      </p:sp>
    </p:spTree>
    <p:extLst>
      <p:ext uri="{BB962C8B-B14F-4D97-AF65-F5344CB8AC3E}">
        <p14:creationId xmlns:p14="http://schemas.microsoft.com/office/powerpoint/2010/main" val="3146152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28DF72-D513-4826-F39A-CA4AD6ABE48B}"/>
              </a:ext>
            </a:extLst>
          </p:cNvPr>
          <p:cNvSpPr>
            <a:spLocks noGrp="1"/>
          </p:cNvSpPr>
          <p:nvPr>
            <p:ph type="title"/>
          </p:nvPr>
        </p:nvSpPr>
        <p:spPr/>
        <p:txBody>
          <a:bodyPr/>
          <a:lstStyle/>
          <a:p>
            <a:r>
              <a:rPr kumimoji="1" lang="ja-JP" altLang="en-US" dirty="0"/>
              <a:t>リリース概要</a:t>
            </a:r>
          </a:p>
        </p:txBody>
      </p:sp>
      <p:sp>
        <p:nvSpPr>
          <p:cNvPr id="3" name="コンテンツ プレースホルダー 2">
            <a:extLst>
              <a:ext uri="{FF2B5EF4-FFF2-40B4-BE49-F238E27FC236}">
                <a16:creationId xmlns:a16="http://schemas.microsoft.com/office/drawing/2014/main" id="{960B9BDE-F9EF-ADA7-115F-0BE41FAD12B1}"/>
              </a:ext>
            </a:extLst>
          </p:cNvPr>
          <p:cNvSpPr>
            <a:spLocks noGrp="1"/>
          </p:cNvSpPr>
          <p:nvPr>
            <p:ph idx="1"/>
          </p:nvPr>
        </p:nvSpPr>
        <p:spPr/>
        <p:txBody>
          <a:bodyPr>
            <a:normAutofit/>
          </a:bodyPr>
          <a:lstStyle/>
          <a:p>
            <a:r>
              <a:rPr kumimoji="1" lang="en-US" altLang="ja-JP" sz="2800" dirty="0"/>
              <a:t>2024</a:t>
            </a:r>
            <a:r>
              <a:rPr kumimoji="1" lang="ja-JP" altLang="en-US" sz="2800" dirty="0"/>
              <a:t>年</a:t>
            </a:r>
            <a:r>
              <a:rPr kumimoji="1" lang="en-US" altLang="ja-JP" sz="2800" dirty="0"/>
              <a:t>10</a:t>
            </a:r>
            <a:r>
              <a:rPr kumimoji="1" lang="ja-JP" altLang="en-US" sz="2800" dirty="0"/>
              <a:t>月</a:t>
            </a:r>
            <a:endParaRPr lang="en-US" altLang="ja-JP" sz="2400" dirty="0"/>
          </a:p>
          <a:p>
            <a:pPr marL="0" indent="0">
              <a:buNone/>
            </a:pPr>
            <a:r>
              <a:rPr lang="en-US" altLang="ja-JP" sz="2400" dirty="0"/>
              <a:t>    </a:t>
            </a:r>
            <a:r>
              <a:rPr lang="ja-JP" altLang="en-US" sz="2400" dirty="0"/>
              <a:t>アプリ概要決定</a:t>
            </a:r>
            <a:endParaRPr lang="en-US" altLang="ja-JP" sz="2400" dirty="0"/>
          </a:p>
          <a:p>
            <a:pPr marL="0" indent="0">
              <a:buNone/>
            </a:pPr>
            <a:r>
              <a:rPr lang="ja-JP" altLang="en-US" sz="2400" dirty="0"/>
              <a:t>    実装する機能の列挙</a:t>
            </a:r>
            <a:endParaRPr lang="en-US" altLang="ja-JP" sz="2400" dirty="0"/>
          </a:p>
          <a:p>
            <a:pPr marL="0" indent="0">
              <a:buNone/>
            </a:pPr>
            <a:r>
              <a:rPr kumimoji="1" lang="en-US" altLang="ja-JP" sz="2400" dirty="0"/>
              <a:t>    API</a:t>
            </a:r>
            <a:r>
              <a:rPr kumimoji="1" lang="ja-JP" altLang="en-US" sz="2400" dirty="0"/>
              <a:t>の利用を検討</a:t>
            </a:r>
            <a:endParaRPr kumimoji="1" lang="en-US" altLang="ja-JP" sz="2400" dirty="0"/>
          </a:p>
          <a:p>
            <a:pPr marL="0" indent="0">
              <a:buNone/>
            </a:pPr>
            <a:r>
              <a:rPr lang="en-US" altLang="ja-JP" sz="2400" dirty="0"/>
              <a:t>    </a:t>
            </a:r>
            <a:r>
              <a:rPr lang="ja-JP" altLang="en-US" sz="2400" dirty="0"/>
              <a:t>自分たちのアプリの需要を周辺に調査</a:t>
            </a:r>
            <a:endParaRPr lang="en-US" altLang="ja-JP" sz="2400" dirty="0"/>
          </a:p>
          <a:p>
            <a:pPr marL="0" indent="0">
              <a:buNone/>
            </a:pPr>
            <a:r>
              <a:rPr kumimoji="1" lang="en-US" altLang="ja-JP" sz="2400" dirty="0"/>
              <a:t>    </a:t>
            </a:r>
            <a:r>
              <a:rPr kumimoji="1" lang="ja-JP" altLang="en-US" sz="2400" dirty="0"/>
              <a:t>アプリ完成までに必要なタスクの洗い出し</a:t>
            </a:r>
            <a:endParaRPr kumimoji="1" lang="en-US" altLang="ja-JP" sz="2400" dirty="0"/>
          </a:p>
          <a:p>
            <a:pPr marL="0" indent="0">
              <a:buNone/>
            </a:pPr>
            <a:r>
              <a:rPr kumimoji="1" lang="ja-JP" altLang="en-US" sz="2400" dirty="0"/>
              <a:t>    </a:t>
            </a:r>
            <a:r>
              <a:rPr kumimoji="1" lang="en-US" altLang="ja-JP" sz="2400" dirty="0"/>
              <a:t>MVP</a:t>
            </a:r>
            <a:r>
              <a:rPr kumimoji="1" lang="ja-JP" altLang="en-US" sz="2400" dirty="0"/>
              <a:t>発表で最低限の機能を実装したアプリを作成</a:t>
            </a:r>
          </a:p>
        </p:txBody>
      </p:sp>
      <p:pic>
        <p:nvPicPr>
          <p:cNvPr id="4" name="図 3">
            <a:extLst>
              <a:ext uri="{FF2B5EF4-FFF2-40B4-BE49-F238E27FC236}">
                <a16:creationId xmlns:a16="http://schemas.microsoft.com/office/drawing/2014/main" id="{BAF1FB64-B646-01BE-A409-421C791ECDE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92826" y="1942277"/>
            <a:ext cx="4553503" cy="2402630"/>
          </a:xfrm>
          <a:prstGeom prst="rect">
            <a:avLst/>
          </a:prstGeom>
        </p:spPr>
      </p:pic>
    </p:spTree>
    <p:extLst>
      <p:ext uri="{BB962C8B-B14F-4D97-AF65-F5344CB8AC3E}">
        <p14:creationId xmlns:p14="http://schemas.microsoft.com/office/powerpoint/2010/main" val="3101242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A80F-2E18-339F-6342-2A078A78C9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EE7CBC-97A0-4350-ED20-34CC9859A568}"/>
              </a:ext>
            </a:extLst>
          </p:cNvPr>
          <p:cNvSpPr>
            <a:spLocks noGrp="1"/>
          </p:cNvSpPr>
          <p:nvPr>
            <p:ph type="title"/>
          </p:nvPr>
        </p:nvSpPr>
        <p:spPr/>
        <p:txBody>
          <a:bodyPr/>
          <a:lstStyle/>
          <a:p>
            <a:r>
              <a:rPr kumimoji="1" lang="ja-JP" altLang="en-US" dirty="0"/>
              <a:t>リリース概要</a:t>
            </a:r>
          </a:p>
        </p:txBody>
      </p:sp>
      <p:sp>
        <p:nvSpPr>
          <p:cNvPr id="3" name="コンテンツ プレースホルダー 2">
            <a:extLst>
              <a:ext uri="{FF2B5EF4-FFF2-40B4-BE49-F238E27FC236}">
                <a16:creationId xmlns:a16="http://schemas.microsoft.com/office/drawing/2014/main" id="{8C5F2B5F-0433-16EF-0058-2F0F7774CBDA}"/>
              </a:ext>
            </a:extLst>
          </p:cNvPr>
          <p:cNvSpPr>
            <a:spLocks noGrp="1"/>
          </p:cNvSpPr>
          <p:nvPr>
            <p:ph idx="1"/>
          </p:nvPr>
        </p:nvSpPr>
        <p:spPr/>
        <p:txBody>
          <a:bodyPr>
            <a:normAutofit/>
          </a:bodyPr>
          <a:lstStyle/>
          <a:p>
            <a:r>
              <a:rPr kumimoji="1" lang="en-US" altLang="ja-JP" sz="2800" dirty="0"/>
              <a:t>2024</a:t>
            </a:r>
            <a:r>
              <a:rPr kumimoji="1" lang="ja-JP" altLang="en-US" sz="2800" dirty="0"/>
              <a:t>年</a:t>
            </a:r>
            <a:r>
              <a:rPr kumimoji="1" lang="en-US" altLang="ja-JP" sz="2800" dirty="0"/>
              <a:t>11</a:t>
            </a:r>
            <a:r>
              <a:rPr kumimoji="1" lang="ja-JP" altLang="en-US" sz="2800" dirty="0"/>
              <a:t>月</a:t>
            </a:r>
            <a:endParaRPr kumimoji="1" lang="en-US" altLang="ja-JP" sz="2800" dirty="0"/>
          </a:p>
          <a:p>
            <a:pPr marL="0" indent="0">
              <a:buNone/>
            </a:pPr>
            <a:r>
              <a:rPr lang="en-US" altLang="ja-JP" sz="2400" dirty="0"/>
              <a:t>    Android Studio</a:t>
            </a:r>
            <a:r>
              <a:rPr lang="ja-JP" altLang="en-US" sz="2400" dirty="0"/>
              <a:t>で本格的にアプリ開発を開始</a:t>
            </a:r>
            <a:endParaRPr lang="en-US" altLang="ja-JP" sz="2400" dirty="0"/>
          </a:p>
          <a:p>
            <a:pPr marL="0" indent="0">
              <a:buNone/>
            </a:pPr>
            <a:r>
              <a:rPr kumimoji="1" lang="en-US" altLang="ja-JP" sz="2400" dirty="0"/>
              <a:t>    </a:t>
            </a:r>
            <a:r>
              <a:rPr kumimoji="1" lang="ja-JP" altLang="en-US" sz="2400" dirty="0"/>
              <a:t>画面遷移の実装</a:t>
            </a:r>
            <a:endParaRPr kumimoji="1" lang="en-US" altLang="ja-JP" sz="2400" dirty="0"/>
          </a:p>
          <a:p>
            <a:pPr marL="0" indent="0">
              <a:buNone/>
            </a:pPr>
            <a:r>
              <a:rPr lang="en-US" altLang="ja-JP" sz="2400" dirty="0"/>
              <a:t>    </a:t>
            </a:r>
            <a:r>
              <a:rPr lang="ja-JP" altLang="en-US" sz="2400" dirty="0"/>
              <a:t>マネーツリーの担当者と</a:t>
            </a:r>
            <a:r>
              <a:rPr lang="en-US" altLang="ja-JP" sz="2400" dirty="0"/>
              <a:t>API</a:t>
            </a:r>
            <a:r>
              <a:rPr lang="ja-JP" altLang="en-US" sz="2400" dirty="0"/>
              <a:t>についてミーティング</a:t>
            </a:r>
            <a:endParaRPr lang="en-US" altLang="ja-JP" sz="2400" dirty="0"/>
          </a:p>
          <a:p>
            <a:pPr marL="0" indent="0">
              <a:buNone/>
            </a:pPr>
            <a:r>
              <a:rPr kumimoji="1" lang="en-US" altLang="ja-JP" sz="2400" dirty="0"/>
              <a:t>    </a:t>
            </a:r>
            <a:r>
              <a:rPr kumimoji="1" lang="ja-JP" altLang="en-US" sz="2400" dirty="0"/>
              <a:t>こぶたの</a:t>
            </a:r>
            <a:r>
              <a:rPr lang="en-US" altLang="ja-JP" sz="2400" dirty="0"/>
              <a:t>3D</a:t>
            </a:r>
            <a:r>
              <a:rPr lang="ja-JP" altLang="en-US" sz="2400" dirty="0"/>
              <a:t>モデルをメイン画面に表示</a:t>
            </a:r>
            <a:endParaRPr lang="en-US" altLang="ja-JP" sz="2400" dirty="0"/>
          </a:p>
          <a:p>
            <a:pPr marL="0" indent="0">
              <a:buNone/>
            </a:pPr>
            <a:r>
              <a:rPr kumimoji="1" lang="en-US" altLang="ja-JP" sz="2400" dirty="0"/>
              <a:t>    </a:t>
            </a:r>
            <a:r>
              <a:rPr lang="ja-JP" altLang="en-US" sz="2400" dirty="0"/>
              <a:t>ミッション画面の実装</a:t>
            </a:r>
            <a:endParaRPr lang="en-US" altLang="ja-JP" sz="2400" dirty="0"/>
          </a:p>
          <a:p>
            <a:pPr marL="0" indent="0">
              <a:buNone/>
            </a:pPr>
            <a:r>
              <a:rPr kumimoji="1" lang="en-US" altLang="ja-JP" sz="2400" dirty="0"/>
              <a:t>    </a:t>
            </a:r>
            <a:r>
              <a:rPr kumimoji="1" lang="ja-JP" altLang="en-US" sz="2400" dirty="0"/>
              <a:t>グラフ画面の実装</a:t>
            </a:r>
            <a:endParaRPr kumimoji="1" lang="en-US" altLang="ja-JP" sz="2400" dirty="0"/>
          </a:p>
          <a:p>
            <a:pPr marL="0" indent="0">
              <a:buNone/>
            </a:pPr>
            <a:r>
              <a:rPr lang="en-US" altLang="ja-JP" sz="2400" dirty="0"/>
              <a:t>    </a:t>
            </a:r>
          </a:p>
        </p:txBody>
      </p:sp>
      <p:pic>
        <p:nvPicPr>
          <p:cNvPr id="5" name="図 4">
            <a:extLst>
              <a:ext uri="{FF2B5EF4-FFF2-40B4-BE49-F238E27FC236}">
                <a16:creationId xmlns:a16="http://schemas.microsoft.com/office/drawing/2014/main" id="{0E08566D-01DA-669B-9C57-F35CBE246920}"/>
              </a:ext>
            </a:extLst>
          </p:cNvPr>
          <p:cNvPicPr>
            <a:picLocks noChangeAspect="1"/>
          </p:cNvPicPr>
          <p:nvPr/>
        </p:nvPicPr>
        <p:blipFill>
          <a:blip r:embed="rId2"/>
          <a:stretch>
            <a:fillRect/>
          </a:stretch>
        </p:blipFill>
        <p:spPr>
          <a:xfrm>
            <a:off x="8399379" y="3979861"/>
            <a:ext cx="3300042" cy="2506899"/>
          </a:xfrm>
          <a:prstGeom prst="rect">
            <a:avLst/>
          </a:prstGeom>
        </p:spPr>
      </p:pic>
    </p:spTree>
    <p:extLst>
      <p:ext uri="{BB962C8B-B14F-4D97-AF65-F5344CB8AC3E}">
        <p14:creationId xmlns:p14="http://schemas.microsoft.com/office/powerpoint/2010/main" val="16511012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66FC7-2C24-99CC-6F0A-E04FB711B7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A75F5A-47F5-3589-F9A0-0B622E1DA383}"/>
              </a:ext>
            </a:extLst>
          </p:cNvPr>
          <p:cNvSpPr>
            <a:spLocks noGrp="1"/>
          </p:cNvSpPr>
          <p:nvPr>
            <p:ph type="title"/>
          </p:nvPr>
        </p:nvSpPr>
        <p:spPr/>
        <p:txBody>
          <a:bodyPr/>
          <a:lstStyle/>
          <a:p>
            <a:r>
              <a:rPr kumimoji="1" lang="ja-JP" altLang="en-US" dirty="0"/>
              <a:t>リリース概要</a:t>
            </a:r>
          </a:p>
        </p:txBody>
      </p:sp>
      <p:sp>
        <p:nvSpPr>
          <p:cNvPr id="3" name="コンテンツ プレースホルダー 2">
            <a:extLst>
              <a:ext uri="{FF2B5EF4-FFF2-40B4-BE49-F238E27FC236}">
                <a16:creationId xmlns:a16="http://schemas.microsoft.com/office/drawing/2014/main" id="{998765F7-B406-3430-459A-E102031CD86B}"/>
              </a:ext>
            </a:extLst>
          </p:cNvPr>
          <p:cNvSpPr>
            <a:spLocks noGrp="1"/>
          </p:cNvSpPr>
          <p:nvPr>
            <p:ph idx="1"/>
          </p:nvPr>
        </p:nvSpPr>
        <p:spPr/>
        <p:txBody>
          <a:bodyPr>
            <a:normAutofit/>
          </a:bodyPr>
          <a:lstStyle/>
          <a:p>
            <a:r>
              <a:rPr kumimoji="1" lang="en-US" altLang="ja-JP" sz="2800" dirty="0"/>
              <a:t>2024</a:t>
            </a:r>
            <a:r>
              <a:rPr kumimoji="1" lang="ja-JP" altLang="en-US" sz="2800" dirty="0"/>
              <a:t>年</a:t>
            </a:r>
            <a:r>
              <a:rPr kumimoji="1" lang="en-US" altLang="ja-JP" sz="2800" dirty="0"/>
              <a:t>12</a:t>
            </a:r>
            <a:r>
              <a:rPr kumimoji="1" lang="ja-JP" altLang="en-US" sz="2800" dirty="0"/>
              <a:t>月</a:t>
            </a:r>
            <a:endParaRPr kumimoji="1" lang="en-US" altLang="ja-JP" sz="2800" dirty="0"/>
          </a:p>
          <a:p>
            <a:pPr marL="0" indent="0">
              <a:buNone/>
            </a:pPr>
            <a:r>
              <a:rPr lang="en-US" altLang="ja-JP" sz="2400" dirty="0"/>
              <a:t>    </a:t>
            </a:r>
            <a:r>
              <a:rPr lang="ja-JP" altLang="en-US" sz="2400" dirty="0"/>
              <a:t>こぶたの表示の仕方を改良</a:t>
            </a:r>
            <a:endParaRPr lang="en-US" altLang="ja-JP" sz="2400" dirty="0"/>
          </a:p>
          <a:p>
            <a:pPr marL="0" indent="0">
              <a:buNone/>
            </a:pPr>
            <a:r>
              <a:rPr kumimoji="1" lang="en-US" altLang="ja-JP" sz="2400" dirty="0"/>
              <a:t>    </a:t>
            </a:r>
            <a:r>
              <a:rPr kumimoji="1" lang="ja-JP" altLang="en-US" sz="2400" dirty="0"/>
              <a:t>全画面の</a:t>
            </a:r>
            <a:r>
              <a:rPr lang="en-US" altLang="ja-JP" sz="2400" dirty="0"/>
              <a:t>UI</a:t>
            </a:r>
            <a:r>
              <a:rPr lang="ja-JP" altLang="en-US" sz="2400" dirty="0"/>
              <a:t>を改良・統一</a:t>
            </a:r>
            <a:endParaRPr lang="en-US" altLang="ja-JP" sz="2400" dirty="0"/>
          </a:p>
          <a:p>
            <a:pPr marL="0" indent="0">
              <a:buNone/>
            </a:pPr>
            <a:r>
              <a:rPr kumimoji="1" lang="en-US" altLang="ja-JP" sz="2400" dirty="0"/>
              <a:t>    </a:t>
            </a:r>
            <a:r>
              <a:rPr kumimoji="1" lang="ja-JP" altLang="en-US" sz="2400" dirty="0"/>
              <a:t>グラフ画面で期間を設定できるように</a:t>
            </a:r>
            <a:endParaRPr kumimoji="1" lang="en-US" altLang="ja-JP" sz="2400" dirty="0"/>
          </a:p>
          <a:p>
            <a:pPr marL="0" indent="0">
              <a:buNone/>
            </a:pPr>
            <a:r>
              <a:rPr lang="en-US" altLang="ja-JP" sz="2400" dirty="0"/>
              <a:t>    </a:t>
            </a:r>
            <a:r>
              <a:rPr lang="ja-JP" altLang="en-US" sz="2400" dirty="0"/>
              <a:t>貯金達成率に応じてこぶたの大きさが変化するように</a:t>
            </a:r>
            <a:endParaRPr lang="en-US" altLang="ja-JP" sz="2400" dirty="0"/>
          </a:p>
          <a:p>
            <a:pPr marL="0" indent="0">
              <a:buNone/>
            </a:pPr>
            <a:r>
              <a:rPr kumimoji="1" lang="en-US" altLang="ja-JP" sz="2400" dirty="0"/>
              <a:t>    </a:t>
            </a:r>
            <a:r>
              <a:rPr kumimoji="1" lang="ja-JP" altLang="en-US" sz="2400" dirty="0"/>
              <a:t>庭画面の実装、季節・時間帯によって背景が変化するように</a:t>
            </a:r>
            <a:endParaRPr kumimoji="1" lang="en-US" altLang="ja-JP" sz="2400" dirty="0"/>
          </a:p>
          <a:p>
            <a:pPr marL="0" indent="0">
              <a:buNone/>
            </a:pPr>
            <a:r>
              <a:rPr lang="en-US" altLang="ja-JP" sz="2400" dirty="0"/>
              <a:t>    </a:t>
            </a:r>
            <a:r>
              <a:rPr lang="ja-JP" altLang="en-US" sz="2400" dirty="0"/>
              <a:t>通知機能の実装</a:t>
            </a:r>
            <a:endParaRPr lang="en-US" altLang="ja-JP" sz="2400" dirty="0"/>
          </a:p>
        </p:txBody>
      </p:sp>
    </p:spTree>
    <p:extLst>
      <p:ext uri="{BB962C8B-B14F-4D97-AF65-F5344CB8AC3E}">
        <p14:creationId xmlns:p14="http://schemas.microsoft.com/office/powerpoint/2010/main" val="3237959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F344-37BF-036F-AF4F-B3C1712CD4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FC570B-AD6D-5AA9-AB7F-5E1FC6058F73}"/>
              </a:ext>
            </a:extLst>
          </p:cNvPr>
          <p:cNvSpPr>
            <a:spLocks noGrp="1"/>
          </p:cNvSpPr>
          <p:nvPr>
            <p:ph type="title"/>
          </p:nvPr>
        </p:nvSpPr>
        <p:spPr/>
        <p:txBody>
          <a:bodyPr/>
          <a:lstStyle/>
          <a:p>
            <a:r>
              <a:rPr kumimoji="1" lang="ja-JP" altLang="en-US" dirty="0"/>
              <a:t>リリース概要</a:t>
            </a:r>
          </a:p>
        </p:txBody>
      </p:sp>
      <p:sp>
        <p:nvSpPr>
          <p:cNvPr id="3" name="コンテンツ プレースホルダー 2">
            <a:extLst>
              <a:ext uri="{FF2B5EF4-FFF2-40B4-BE49-F238E27FC236}">
                <a16:creationId xmlns:a16="http://schemas.microsoft.com/office/drawing/2014/main" id="{97B44CEB-D4C3-ECA6-CFB7-1CA6135576FE}"/>
              </a:ext>
            </a:extLst>
          </p:cNvPr>
          <p:cNvSpPr>
            <a:spLocks noGrp="1"/>
          </p:cNvSpPr>
          <p:nvPr>
            <p:ph idx="1"/>
          </p:nvPr>
        </p:nvSpPr>
        <p:spPr/>
        <p:txBody>
          <a:bodyPr>
            <a:normAutofit/>
          </a:bodyPr>
          <a:lstStyle/>
          <a:p>
            <a:r>
              <a:rPr kumimoji="1" lang="en-US" altLang="ja-JP" sz="2800" dirty="0"/>
              <a:t>2025</a:t>
            </a:r>
            <a:r>
              <a:rPr kumimoji="1" lang="ja-JP" altLang="en-US" sz="2800" dirty="0"/>
              <a:t>年</a:t>
            </a:r>
            <a:r>
              <a:rPr kumimoji="1" lang="en-US" altLang="ja-JP" sz="2800" dirty="0"/>
              <a:t>1</a:t>
            </a:r>
            <a:r>
              <a:rPr kumimoji="1" lang="ja-JP" altLang="en-US" sz="2800" dirty="0"/>
              <a:t>月</a:t>
            </a:r>
            <a:endParaRPr kumimoji="1" lang="en-US" altLang="ja-JP" sz="2800" dirty="0"/>
          </a:p>
          <a:p>
            <a:pPr marL="0" indent="0">
              <a:buNone/>
            </a:pPr>
            <a:r>
              <a:rPr lang="ja-JP" altLang="en-US" sz="2400" dirty="0">
                <a:solidFill>
                  <a:schemeClr val="tx1"/>
                </a:solidFill>
              </a:rPr>
              <a:t>　設定画面の実装</a:t>
            </a:r>
            <a:endParaRPr lang="en-US" altLang="ja-JP" sz="2400" dirty="0">
              <a:solidFill>
                <a:schemeClr val="tx1"/>
              </a:solidFill>
            </a:endParaRPr>
          </a:p>
          <a:p>
            <a:pPr marL="0" indent="0">
              <a:buNone/>
            </a:pPr>
            <a:r>
              <a:rPr lang="ja-JP" altLang="en-US" sz="2400" dirty="0">
                <a:solidFill>
                  <a:schemeClr val="tx1"/>
                </a:solidFill>
              </a:rPr>
              <a:t>　ゲーム内通貨の実装</a:t>
            </a:r>
            <a:endParaRPr lang="en-US" altLang="ja-JP" sz="2400" dirty="0">
              <a:solidFill>
                <a:schemeClr val="tx1"/>
              </a:solidFill>
            </a:endParaRPr>
          </a:p>
          <a:p>
            <a:pPr marL="0" indent="0">
              <a:buNone/>
            </a:pPr>
            <a:r>
              <a:rPr lang="ja-JP" altLang="en-US" sz="2400" dirty="0">
                <a:solidFill>
                  <a:schemeClr val="tx1"/>
                </a:solidFill>
              </a:rPr>
              <a:t>　アイテムの拡充</a:t>
            </a:r>
            <a:endParaRPr lang="en-US" altLang="ja-JP" sz="2400" dirty="0">
              <a:solidFill>
                <a:schemeClr val="tx1"/>
              </a:solidFill>
            </a:endParaRPr>
          </a:p>
          <a:p>
            <a:pPr marL="0" indent="0">
              <a:buNone/>
            </a:pPr>
            <a:r>
              <a:rPr lang="ja-JP" altLang="en-US" sz="2400" dirty="0">
                <a:solidFill>
                  <a:schemeClr val="tx1"/>
                </a:solidFill>
              </a:rPr>
              <a:t>　</a:t>
            </a:r>
            <a:r>
              <a:rPr lang="en-US" altLang="ja-JP" sz="2400" dirty="0">
                <a:solidFill>
                  <a:schemeClr val="tx1"/>
                </a:solidFill>
              </a:rPr>
              <a:t>UI</a:t>
            </a:r>
            <a:r>
              <a:rPr lang="ja-JP" altLang="en-US" sz="2400" dirty="0">
                <a:solidFill>
                  <a:schemeClr val="tx1"/>
                </a:solidFill>
              </a:rPr>
              <a:t>の最終確認</a:t>
            </a:r>
            <a:endParaRPr lang="en-US" altLang="ja-JP" sz="2400" dirty="0">
              <a:solidFill>
                <a:schemeClr val="tx1"/>
              </a:solidFill>
            </a:endParaRPr>
          </a:p>
        </p:txBody>
      </p:sp>
    </p:spTree>
    <p:extLst>
      <p:ext uri="{BB962C8B-B14F-4D97-AF65-F5344CB8AC3E}">
        <p14:creationId xmlns:p14="http://schemas.microsoft.com/office/powerpoint/2010/main" val="2731565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00A4-C08F-572E-F9A6-8801EBB8BF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B3FC74-42E8-6342-5CB3-BF5B3BEC9242}"/>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11082885-876B-966C-4633-E3A39738C4C1}"/>
              </a:ext>
            </a:extLst>
          </p:cNvPr>
          <p:cNvSpPr>
            <a:spLocks noGrp="1"/>
          </p:cNvSpPr>
          <p:nvPr>
            <p:ph idx="1"/>
          </p:nvPr>
        </p:nvSpPr>
        <p:spPr/>
        <p:txBody>
          <a:bodyPr>
            <a:normAutofit/>
          </a:bodyPr>
          <a:lstStyle/>
          <a:p>
            <a:r>
              <a:rPr kumimoji="1" lang="ja-JP" altLang="en-US" sz="2800" dirty="0">
                <a:solidFill>
                  <a:schemeClr val="bg1">
                    <a:lumMod val="50000"/>
                  </a:schemeClr>
                </a:solidFill>
              </a:rPr>
              <a:t>想定利用者</a:t>
            </a:r>
            <a:endParaRPr kumimoji="1" lang="en-US" altLang="ja-JP" sz="2800" dirty="0">
              <a:solidFill>
                <a:schemeClr val="bg1">
                  <a:lumMod val="50000"/>
                </a:schemeClr>
              </a:solidFill>
            </a:endParaRPr>
          </a:p>
          <a:p>
            <a:r>
              <a:rPr lang="ja-JP" altLang="en-US" sz="2800" dirty="0">
                <a:solidFill>
                  <a:schemeClr val="bg1">
                    <a:lumMod val="50000"/>
                  </a:schemeClr>
                </a:solidFill>
              </a:rPr>
              <a:t>アプリ概要</a:t>
            </a:r>
            <a:endParaRPr lang="en-US" altLang="ja-JP" sz="2800" dirty="0">
              <a:solidFill>
                <a:schemeClr val="bg1">
                  <a:lumMod val="50000"/>
                </a:schemeClr>
              </a:solidFill>
            </a:endParaRPr>
          </a:p>
          <a:p>
            <a:r>
              <a:rPr kumimoji="1" lang="ja-JP" altLang="en-US" sz="2800" dirty="0">
                <a:solidFill>
                  <a:schemeClr val="bg1">
                    <a:lumMod val="50000"/>
                  </a:schemeClr>
                </a:solidFill>
              </a:rPr>
              <a:t>アプリ実演</a:t>
            </a:r>
            <a:endParaRPr kumimoji="1" lang="en-US" altLang="ja-JP" sz="2800" dirty="0">
              <a:solidFill>
                <a:schemeClr val="bg1">
                  <a:lumMod val="50000"/>
                </a:schemeClr>
              </a:solidFill>
            </a:endParaRPr>
          </a:p>
          <a:p>
            <a:r>
              <a:rPr lang="ja-JP" altLang="en-US" sz="2800" dirty="0">
                <a:solidFill>
                  <a:schemeClr val="bg1">
                    <a:lumMod val="50000"/>
                  </a:schemeClr>
                </a:solidFill>
              </a:rPr>
              <a:t>リリース概要</a:t>
            </a:r>
            <a:endParaRPr lang="en-US" altLang="ja-JP" sz="2800" dirty="0">
              <a:solidFill>
                <a:schemeClr val="bg1">
                  <a:lumMod val="50000"/>
                </a:schemeClr>
              </a:solidFill>
            </a:endParaRPr>
          </a:p>
          <a:p>
            <a:pPr marL="0" indent="0">
              <a:buNone/>
            </a:pPr>
            <a:r>
              <a:rPr kumimoji="1" lang="ja-JP" altLang="en-US" sz="2800" dirty="0"/>
              <a:t>☞開発を進める上で行った工夫</a:t>
            </a:r>
            <a:endParaRPr kumimoji="1" lang="en-US" altLang="ja-JP" sz="2800" dirty="0"/>
          </a:p>
          <a:p>
            <a:r>
              <a:rPr lang="ja-JP" altLang="en-US" sz="2800" dirty="0">
                <a:solidFill>
                  <a:schemeClr val="bg1">
                    <a:lumMod val="50000"/>
                  </a:schemeClr>
                </a:solidFill>
              </a:rPr>
              <a:t>開発を通じて実感したこと</a:t>
            </a:r>
            <a:endParaRPr kumimoji="1" lang="ja-JP" altLang="en-US" sz="2800" dirty="0">
              <a:solidFill>
                <a:schemeClr val="bg1">
                  <a:lumMod val="50000"/>
                </a:schemeClr>
              </a:solidFill>
            </a:endParaRPr>
          </a:p>
        </p:txBody>
      </p:sp>
    </p:spTree>
    <p:extLst>
      <p:ext uri="{BB962C8B-B14F-4D97-AF65-F5344CB8AC3E}">
        <p14:creationId xmlns:p14="http://schemas.microsoft.com/office/powerpoint/2010/main" val="34471200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A21A0F-270D-8B2E-4718-AADA3320F0D9}"/>
              </a:ext>
            </a:extLst>
          </p:cNvPr>
          <p:cNvSpPr>
            <a:spLocks noGrp="1"/>
          </p:cNvSpPr>
          <p:nvPr>
            <p:ph type="title"/>
          </p:nvPr>
        </p:nvSpPr>
        <p:spPr/>
        <p:txBody>
          <a:bodyPr>
            <a:normAutofit/>
          </a:bodyPr>
          <a:lstStyle/>
          <a:p>
            <a:r>
              <a:rPr kumimoji="1" lang="ja-JP" altLang="en-US" dirty="0"/>
              <a:t>開発を進める上で行った工夫</a:t>
            </a:r>
          </a:p>
        </p:txBody>
      </p:sp>
      <p:sp>
        <p:nvSpPr>
          <p:cNvPr id="3" name="コンテンツ プレースホルダー 2">
            <a:extLst>
              <a:ext uri="{FF2B5EF4-FFF2-40B4-BE49-F238E27FC236}">
                <a16:creationId xmlns:a16="http://schemas.microsoft.com/office/drawing/2014/main" id="{6CD20FEA-BECE-A150-B70B-2DF83BCAFDB6}"/>
              </a:ext>
            </a:extLst>
          </p:cNvPr>
          <p:cNvSpPr>
            <a:spLocks noGrp="1"/>
          </p:cNvSpPr>
          <p:nvPr>
            <p:ph idx="1"/>
          </p:nvPr>
        </p:nvSpPr>
        <p:spPr/>
        <p:txBody>
          <a:bodyPr>
            <a:normAutofit/>
          </a:bodyPr>
          <a:lstStyle/>
          <a:p>
            <a:r>
              <a:rPr kumimoji="1" lang="ja-JP" altLang="en-US" sz="2800" dirty="0"/>
              <a:t>授業以外に週</a:t>
            </a:r>
            <a:r>
              <a:rPr kumimoji="1" lang="en-US" altLang="ja-JP" sz="2800" dirty="0"/>
              <a:t>1,2</a:t>
            </a:r>
            <a:r>
              <a:rPr kumimoji="1" lang="ja-JP" altLang="en-US" sz="2800" dirty="0"/>
              <a:t>回ミーティングを行った</a:t>
            </a:r>
            <a:endParaRPr kumimoji="1" lang="en-US" altLang="ja-JP" sz="2800" dirty="0"/>
          </a:p>
          <a:p>
            <a:endParaRPr kumimoji="1" lang="en-US" altLang="ja-JP" sz="2800" dirty="0"/>
          </a:p>
          <a:p>
            <a:r>
              <a:rPr lang="en-US" altLang="ja-JP" sz="2800" dirty="0"/>
              <a:t>Discord</a:t>
            </a:r>
            <a:r>
              <a:rPr lang="ja-JP" altLang="en-US" sz="2800" dirty="0"/>
              <a:t>の活用</a:t>
            </a:r>
            <a:endParaRPr lang="en-US" altLang="ja-JP" sz="2800" dirty="0"/>
          </a:p>
          <a:p>
            <a:pPr marL="0" indent="0">
              <a:buNone/>
            </a:pPr>
            <a:r>
              <a:rPr kumimoji="1" lang="en-US" altLang="ja-JP" sz="2400" dirty="0"/>
              <a:t>    </a:t>
            </a:r>
            <a:r>
              <a:rPr kumimoji="1" lang="ja-JP" altLang="en-US" sz="2400" dirty="0"/>
              <a:t>チャンネルを複数作成しコンフリクト回避や</a:t>
            </a:r>
            <a:endParaRPr kumimoji="1" lang="en-US" altLang="ja-JP" sz="2400" dirty="0"/>
          </a:p>
          <a:p>
            <a:pPr marL="0" indent="0">
              <a:buNone/>
            </a:pPr>
            <a:r>
              <a:rPr lang="en-US" altLang="ja-JP" sz="2400" dirty="0"/>
              <a:t>    </a:t>
            </a:r>
            <a:r>
              <a:rPr kumimoji="1" lang="ja-JP" altLang="en-US" sz="2400" dirty="0"/>
              <a:t>ファイルの共有を行った</a:t>
            </a:r>
            <a:endParaRPr kumimoji="1" lang="en-US" altLang="ja-JP" sz="2400" dirty="0"/>
          </a:p>
          <a:p>
            <a:pPr marL="0" indent="0">
              <a:buNone/>
            </a:pPr>
            <a:r>
              <a:rPr lang="ja-JP" altLang="en-US" sz="2400" dirty="0"/>
              <a:t>    スクラム反省会にも利用した</a:t>
            </a:r>
            <a:endParaRPr kumimoji="1" lang="en-US" altLang="ja-JP" sz="2400" dirty="0"/>
          </a:p>
        </p:txBody>
      </p:sp>
      <p:pic>
        <p:nvPicPr>
          <p:cNvPr id="6" name="図 5">
            <a:extLst>
              <a:ext uri="{FF2B5EF4-FFF2-40B4-BE49-F238E27FC236}">
                <a16:creationId xmlns:a16="http://schemas.microsoft.com/office/drawing/2014/main" id="{7F3BD3E0-0E6D-59EE-E0E2-4B7AC88B8C12}"/>
              </a:ext>
            </a:extLst>
          </p:cNvPr>
          <p:cNvPicPr>
            <a:picLocks noChangeAspect="1"/>
          </p:cNvPicPr>
          <p:nvPr/>
        </p:nvPicPr>
        <p:blipFill>
          <a:blip r:embed="rId3"/>
          <a:stretch>
            <a:fillRect/>
          </a:stretch>
        </p:blipFill>
        <p:spPr>
          <a:xfrm>
            <a:off x="9190730" y="1951264"/>
            <a:ext cx="2320386" cy="4459289"/>
          </a:xfrm>
          <a:prstGeom prst="rect">
            <a:avLst/>
          </a:prstGeom>
        </p:spPr>
      </p:pic>
    </p:spTree>
    <p:extLst>
      <p:ext uri="{BB962C8B-B14F-4D97-AF65-F5344CB8AC3E}">
        <p14:creationId xmlns:p14="http://schemas.microsoft.com/office/powerpoint/2010/main" val="2591770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6A3B48-0F86-9E0D-4458-DDF22860C283}"/>
              </a:ext>
            </a:extLst>
          </p:cNvPr>
          <p:cNvSpPr>
            <a:spLocks noGrp="1"/>
          </p:cNvSpPr>
          <p:nvPr>
            <p:ph type="title"/>
          </p:nvPr>
        </p:nvSpPr>
        <p:spPr/>
        <p:txBody>
          <a:bodyPr/>
          <a:lstStyle/>
          <a:p>
            <a:r>
              <a:rPr kumimoji="1" lang="ja-JP" altLang="en-US" dirty="0"/>
              <a:t>開発を進める上で行った工夫</a:t>
            </a:r>
          </a:p>
        </p:txBody>
      </p:sp>
      <p:sp>
        <p:nvSpPr>
          <p:cNvPr id="3" name="コンテンツ プレースホルダー 2">
            <a:extLst>
              <a:ext uri="{FF2B5EF4-FFF2-40B4-BE49-F238E27FC236}">
                <a16:creationId xmlns:a16="http://schemas.microsoft.com/office/drawing/2014/main" id="{2026D9EC-C1A9-5D4D-4FB8-C249899D6D30}"/>
              </a:ext>
            </a:extLst>
          </p:cNvPr>
          <p:cNvSpPr>
            <a:spLocks noGrp="1"/>
          </p:cNvSpPr>
          <p:nvPr>
            <p:ph idx="1"/>
          </p:nvPr>
        </p:nvSpPr>
        <p:spPr>
          <a:xfrm>
            <a:off x="704491" y="2103119"/>
            <a:ext cx="10058400" cy="3931920"/>
          </a:xfrm>
        </p:spPr>
        <p:txBody>
          <a:bodyPr>
            <a:normAutofit fontScale="92500" lnSpcReduction="10000"/>
          </a:bodyPr>
          <a:lstStyle/>
          <a:p>
            <a:r>
              <a:rPr kumimoji="1" lang="ja-JP" altLang="en-US" sz="3000" dirty="0"/>
              <a:t>スプレッドシートを利用してタスクの割</a:t>
            </a:r>
            <a:r>
              <a:rPr kumimoji="1" lang="ja-JP" altLang="en-US" sz="2800" dirty="0"/>
              <a:t>り振り</a:t>
            </a:r>
            <a:endParaRPr lang="en-US" altLang="ja-JP" sz="2800" dirty="0"/>
          </a:p>
          <a:p>
            <a:pPr marL="0" indent="0">
              <a:buNone/>
            </a:pPr>
            <a:endParaRPr lang="en-US" altLang="ja-JP" sz="2600" dirty="0">
              <a:solidFill>
                <a:schemeClr val="tx1"/>
              </a:solidFill>
            </a:endParaRPr>
          </a:p>
          <a:p>
            <a:pPr marL="0" indent="0">
              <a:buNone/>
            </a:pPr>
            <a:r>
              <a:rPr lang="ja-JP" altLang="en-US" sz="2600" dirty="0">
                <a:solidFill>
                  <a:schemeClr val="tx1"/>
                </a:solidFill>
              </a:rPr>
              <a:t>    コンフリクトを起こさないため</a:t>
            </a:r>
            <a:endParaRPr lang="en-US" altLang="ja-JP" sz="2600" dirty="0">
              <a:solidFill>
                <a:schemeClr val="tx1"/>
              </a:solidFill>
            </a:endParaRPr>
          </a:p>
          <a:p>
            <a:pPr marL="0" indent="0">
              <a:buNone/>
            </a:pPr>
            <a:r>
              <a:rPr kumimoji="1" lang="ja-JP" altLang="en-US" sz="2600" dirty="0">
                <a:solidFill>
                  <a:schemeClr val="tx1"/>
                </a:solidFill>
              </a:rPr>
              <a:t>    画面ごと</a:t>
            </a:r>
            <a:r>
              <a:rPr lang="ja-JP" altLang="en-US" sz="2600" dirty="0"/>
              <a:t>に</a:t>
            </a:r>
            <a:r>
              <a:rPr kumimoji="1" lang="ja-JP" altLang="en-US" sz="2600" dirty="0">
                <a:solidFill>
                  <a:schemeClr val="tx1"/>
                </a:solidFill>
              </a:rPr>
              <a:t>役割分担</a:t>
            </a:r>
            <a:endParaRPr kumimoji="1" lang="en-US" altLang="ja-JP" sz="2600" dirty="0">
              <a:solidFill>
                <a:schemeClr val="tx1"/>
              </a:solidFill>
            </a:endParaRPr>
          </a:p>
          <a:p>
            <a:pPr marL="0" indent="0">
              <a:buNone/>
            </a:pPr>
            <a:r>
              <a:rPr lang="ja-JP" altLang="en-US" sz="2600" b="0" i="0" dirty="0">
                <a:solidFill>
                  <a:schemeClr val="tx1"/>
                </a:solidFill>
                <a:effectLst/>
                <a:latin typeface="-apple-system"/>
              </a:rPr>
              <a:t>    一度に複数人が同じファイルを</a:t>
            </a:r>
            <a:endParaRPr lang="en-US" altLang="ja-JP" sz="2600" b="0" i="0" dirty="0">
              <a:solidFill>
                <a:schemeClr val="tx1"/>
              </a:solidFill>
              <a:effectLst/>
              <a:latin typeface="-apple-system"/>
            </a:endParaRPr>
          </a:p>
          <a:p>
            <a:pPr marL="0" indent="0">
              <a:buNone/>
            </a:pPr>
            <a:r>
              <a:rPr lang="ja-JP" altLang="en-US" sz="2600" b="0" i="0" dirty="0">
                <a:solidFill>
                  <a:schemeClr val="tx1"/>
                </a:solidFill>
                <a:effectLst/>
                <a:latin typeface="-apple-system"/>
              </a:rPr>
              <a:t>    いじらないように工夫</a:t>
            </a:r>
            <a:endParaRPr lang="en-US" altLang="ja-JP" sz="2600" b="0" i="0" dirty="0">
              <a:solidFill>
                <a:schemeClr val="tx1"/>
              </a:solidFill>
              <a:effectLst/>
              <a:latin typeface="-apple-system"/>
            </a:endParaRPr>
          </a:p>
          <a:p>
            <a:pPr marL="0" indent="0">
              <a:buNone/>
            </a:pPr>
            <a:endParaRPr kumimoji="1" lang="en-US" altLang="ja-JP" sz="3200" dirty="0">
              <a:solidFill>
                <a:schemeClr val="tx1"/>
              </a:solidFill>
            </a:endParaRPr>
          </a:p>
          <a:p>
            <a:pPr marL="0" indent="0">
              <a:buNone/>
            </a:pPr>
            <a:r>
              <a:rPr lang="en-US" altLang="ja-JP" sz="2600" b="0" i="0" dirty="0">
                <a:solidFill>
                  <a:schemeClr val="tx1"/>
                </a:solidFill>
                <a:effectLst/>
                <a:latin typeface="-apple-system"/>
              </a:rPr>
              <a:t>    1</a:t>
            </a:r>
            <a:r>
              <a:rPr lang="ja-JP" altLang="en-US" sz="2600" b="0" i="0" dirty="0">
                <a:solidFill>
                  <a:schemeClr val="tx1"/>
                </a:solidFill>
                <a:effectLst/>
                <a:latin typeface="-apple-system"/>
              </a:rPr>
              <a:t>、</a:t>
            </a:r>
            <a:r>
              <a:rPr lang="en-US" altLang="ja-JP" sz="2600" b="0" i="0" dirty="0">
                <a:solidFill>
                  <a:schemeClr val="tx1"/>
                </a:solidFill>
                <a:effectLst/>
                <a:latin typeface="-apple-system"/>
              </a:rPr>
              <a:t>2</a:t>
            </a:r>
            <a:r>
              <a:rPr lang="ja-JP" altLang="en-US" sz="2600" b="0" i="0" dirty="0">
                <a:solidFill>
                  <a:schemeClr val="tx1"/>
                </a:solidFill>
                <a:effectLst/>
                <a:latin typeface="-apple-system"/>
              </a:rPr>
              <a:t>週間ごとに作業のゴールを設定</a:t>
            </a:r>
          </a:p>
          <a:p>
            <a:endParaRPr lang="en-US" altLang="ja-JP" sz="2800" dirty="0"/>
          </a:p>
        </p:txBody>
      </p:sp>
      <p:pic>
        <p:nvPicPr>
          <p:cNvPr id="4" name="図 3">
            <a:extLst>
              <a:ext uri="{FF2B5EF4-FFF2-40B4-BE49-F238E27FC236}">
                <a16:creationId xmlns:a16="http://schemas.microsoft.com/office/drawing/2014/main" id="{E1468443-2126-2D4A-D741-5018D0230695}"/>
              </a:ext>
            </a:extLst>
          </p:cNvPr>
          <p:cNvPicPr>
            <a:picLocks noChangeAspect="1"/>
          </p:cNvPicPr>
          <p:nvPr/>
        </p:nvPicPr>
        <p:blipFill>
          <a:blip r:embed="rId2"/>
          <a:stretch>
            <a:fillRect/>
          </a:stretch>
        </p:blipFill>
        <p:spPr>
          <a:xfrm>
            <a:off x="6591300" y="2824949"/>
            <a:ext cx="5113020" cy="2079099"/>
          </a:xfrm>
          <a:prstGeom prst="rect">
            <a:avLst/>
          </a:prstGeom>
        </p:spPr>
      </p:pic>
    </p:spTree>
    <p:extLst>
      <p:ext uri="{BB962C8B-B14F-4D97-AF65-F5344CB8AC3E}">
        <p14:creationId xmlns:p14="http://schemas.microsoft.com/office/powerpoint/2010/main" val="2942646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D05F-ED61-2530-75EE-5D69952592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3756A6-E09A-2795-75FC-841C02DF2408}"/>
              </a:ext>
            </a:extLst>
          </p:cNvPr>
          <p:cNvSpPr>
            <a:spLocks noGrp="1"/>
          </p:cNvSpPr>
          <p:nvPr>
            <p:ph type="title"/>
          </p:nvPr>
        </p:nvSpPr>
        <p:spPr/>
        <p:txBody>
          <a:bodyPr>
            <a:normAutofit/>
          </a:bodyPr>
          <a:lstStyle/>
          <a:p>
            <a:r>
              <a:rPr kumimoji="1" lang="ja-JP" altLang="en-US" dirty="0"/>
              <a:t>開発を進める上で行った工夫</a:t>
            </a:r>
          </a:p>
        </p:txBody>
      </p:sp>
      <p:sp>
        <p:nvSpPr>
          <p:cNvPr id="3" name="コンテンツ プレースホルダー 2">
            <a:extLst>
              <a:ext uri="{FF2B5EF4-FFF2-40B4-BE49-F238E27FC236}">
                <a16:creationId xmlns:a16="http://schemas.microsoft.com/office/drawing/2014/main" id="{EA0A4702-C1D2-D547-3E6A-140DB720F2F4}"/>
              </a:ext>
            </a:extLst>
          </p:cNvPr>
          <p:cNvSpPr>
            <a:spLocks noGrp="1"/>
          </p:cNvSpPr>
          <p:nvPr>
            <p:ph idx="1"/>
          </p:nvPr>
        </p:nvSpPr>
        <p:spPr>
          <a:xfrm>
            <a:off x="1066800" y="2103120"/>
            <a:ext cx="10058400" cy="4320732"/>
          </a:xfrm>
        </p:spPr>
        <p:txBody>
          <a:bodyPr>
            <a:normAutofit/>
          </a:bodyPr>
          <a:lstStyle/>
          <a:p>
            <a:r>
              <a:rPr kumimoji="1" lang="en-US" altLang="ja-JP" sz="2800" dirty="0" err="1"/>
              <a:t>Github</a:t>
            </a:r>
            <a:r>
              <a:rPr kumimoji="1" lang="ja-JP" altLang="en-US" sz="2800" dirty="0"/>
              <a:t>で個々人のブランチを作成し、バージョン管理を行った</a:t>
            </a:r>
            <a:endParaRPr kumimoji="1" lang="en-US" altLang="ja-JP" sz="2800" dirty="0"/>
          </a:p>
          <a:p>
            <a:endParaRPr kumimoji="1" lang="en-US" altLang="ja-JP" sz="2800" dirty="0"/>
          </a:p>
          <a:p>
            <a:r>
              <a:rPr lang="ja-JP" altLang="en-US" sz="2800" dirty="0"/>
              <a:t>アプリや育成機能が貯金のモチベーションに繋がるのか常に原点に立ち返って考えた</a:t>
            </a:r>
            <a:endParaRPr lang="en-US" altLang="ja-JP" sz="2800" dirty="0"/>
          </a:p>
          <a:p>
            <a:endParaRPr lang="en-US" altLang="ja-JP" sz="2800" dirty="0"/>
          </a:p>
          <a:p>
            <a:r>
              <a:rPr lang="ja-JP" altLang="en-US" sz="2800" b="0" i="0" dirty="0">
                <a:effectLst/>
                <a:latin typeface="gg sans"/>
              </a:rPr>
              <a:t>短期的なモチベーションを上げるだけでなく、長く使われるアプリにすることを意識してアイデアを練った</a:t>
            </a:r>
            <a:endParaRPr lang="en-US" altLang="ja-JP" sz="2800" dirty="0"/>
          </a:p>
        </p:txBody>
      </p:sp>
    </p:spTree>
    <p:extLst>
      <p:ext uri="{BB962C8B-B14F-4D97-AF65-F5344CB8AC3E}">
        <p14:creationId xmlns:p14="http://schemas.microsoft.com/office/powerpoint/2010/main" val="872718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17698-A992-955B-38F4-8DA1C3AD1A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3F4082-12F0-BE95-1330-2E491A275A2B}"/>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A4B6A739-F011-53FE-3DC8-2EBD3F9E8A48}"/>
              </a:ext>
            </a:extLst>
          </p:cNvPr>
          <p:cNvSpPr>
            <a:spLocks noGrp="1"/>
          </p:cNvSpPr>
          <p:nvPr>
            <p:ph idx="1"/>
          </p:nvPr>
        </p:nvSpPr>
        <p:spPr/>
        <p:txBody>
          <a:bodyPr>
            <a:normAutofit/>
          </a:bodyPr>
          <a:lstStyle/>
          <a:p>
            <a:r>
              <a:rPr kumimoji="1" lang="ja-JP" altLang="en-US" sz="2800" dirty="0">
                <a:solidFill>
                  <a:schemeClr val="bg1">
                    <a:lumMod val="50000"/>
                  </a:schemeClr>
                </a:solidFill>
              </a:rPr>
              <a:t>想定利用者</a:t>
            </a:r>
            <a:endParaRPr kumimoji="1" lang="en-US" altLang="ja-JP" sz="2800" dirty="0">
              <a:solidFill>
                <a:schemeClr val="bg1">
                  <a:lumMod val="50000"/>
                </a:schemeClr>
              </a:solidFill>
            </a:endParaRPr>
          </a:p>
          <a:p>
            <a:r>
              <a:rPr lang="ja-JP" altLang="en-US" sz="2800" dirty="0">
                <a:solidFill>
                  <a:schemeClr val="bg1">
                    <a:lumMod val="50000"/>
                  </a:schemeClr>
                </a:solidFill>
              </a:rPr>
              <a:t>アプリ概要</a:t>
            </a:r>
            <a:endParaRPr lang="en-US" altLang="ja-JP" sz="2800" dirty="0">
              <a:solidFill>
                <a:schemeClr val="bg1">
                  <a:lumMod val="50000"/>
                </a:schemeClr>
              </a:solidFill>
            </a:endParaRPr>
          </a:p>
          <a:p>
            <a:r>
              <a:rPr kumimoji="1" lang="ja-JP" altLang="en-US" sz="2800" dirty="0">
                <a:solidFill>
                  <a:schemeClr val="bg1">
                    <a:lumMod val="50000"/>
                  </a:schemeClr>
                </a:solidFill>
              </a:rPr>
              <a:t>アプリ実演</a:t>
            </a:r>
            <a:endParaRPr kumimoji="1" lang="en-US" altLang="ja-JP" sz="2800" dirty="0">
              <a:solidFill>
                <a:schemeClr val="bg1">
                  <a:lumMod val="50000"/>
                </a:schemeClr>
              </a:solidFill>
            </a:endParaRPr>
          </a:p>
          <a:p>
            <a:r>
              <a:rPr lang="ja-JP" altLang="en-US" sz="2800" dirty="0">
                <a:solidFill>
                  <a:schemeClr val="bg1">
                    <a:lumMod val="50000"/>
                  </a:schemeClr>
                </a:solidFill>
              </a:rPr>
              <a:t>リリース概要</a:t>
            </a:r>
            <a:endParaRPr lang="en-US" altLang="ja-JP" sz="2800" dirty="0">
              <a:solidFill>
                <a:schemeClr val="bg1">
                  <a:lumMod val="50000"/>
                </a:schemeClr>
              </a:solidFill>
            </a:endParaRPr>
          </a:p>
          <a:p>
            <a:r>
              <a:rPr kumimoji="1" lang="ja-JP" altLang="en-US" sz="2800" dirty="0">
                <a:solidFill>
                  <a:schemeClr val="bg1">
                    <a:lumMod val="50000"/>
                  </a:schemeClr>
                </a:solidFill>
              </a:rPr>
              <a:t>開発を進める上で行った工夫</a:t>
            </a:r>
            <a:endParaRPr kumimoji="1" lang="en-US" altLang="ja-JP" sz="2800" dirty="0">
              <a:solidFill>
                <a:schemeClr val="bg1">
                  <a:lumMod val="50000"/>
                </a:schemeClr>
              </a:solidFill>
            </a:endParaRPr>
          </a:p>
          <a:p>
            <a:pPr marL="0" indent="0">
              <a:buNone/>
            </a:pPr>
            <a:r>
              <a:rPr lang="ja-JP" altLang="en-US" sz="2800" dirty="0"/>
              <a:t>☞開発を通じて実感したこと</a:t>
            </a:r>
            <a:endParaRPr kumimoji="1" lang="ja-JP" altLang="en-US" sz="2800" dirty="0"/>
          </a:p>
        </p:txBody>
      </p:sp>
    </p:spTree>
    <p:extLst>
      <p:ext uri="{BB962C8B-B14F-4D97-AF65-F5344CB8AC3E}">
        <p14:creationId xmlns:p14="http://schemas.microsoft.com/office/powerpoint/2010/main" val="402328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C1699E-E145-3969-0200-CE5925034F85}"/>
              </a:ext>
            </a:extLst>
          </p:cNvPr>
          <p:cNvSpPr>
            <a:spLocks noGrp="1"/>
          </p:cNvSpPr>
          <p:nvPr>
            <p:ph type="title"/>
          </p:nvPr>
        </p:nvSpPr>
        <p:spPr/>
        <p:txBody>
          <a:bodyPr/>
          <a:lstStyle/>
          <a:p>
            <a:r>
              <a:rPr kumimoji="1" lang="ja-JP" altLang="en-US" dirty="0"/>
              <a:t>開発を通じて実感したこと</a:t>
            </a:r>
          </a:p>
        </p:txBody>
      </p:sp>
      <p:sp>
        <p:nvSpPr>
          <p:cNvPr id="3" name="コンテンツ プレースホルダー 2">
            <a:extLst>
              <a:ext uri="{FF2B5EF4-FFF2-40B4-BE49-F238E27FC236}">
                <a16:creationId xmlns:a16="http://schemas.microsoft.com/office/drawing/2014/main" id="{395E5CD4-D319-F8A0-0F2F-69D7993BAEBB}"/>
              </a:ext>
            </a:extLst>
          </p:cNvPr>
          <p:cNvSpPr>
            <a:spLocks noGrp="1"/>
          </p:cNvSpPr>
          <p:nvPr>
            <p:ph idx="1"/>
          </p:nvPr>
        </p:nvSpPr>
        <p:spPr>
          <a:xfrm>
            <a:off x="1066800" y="2103119"/>
            <a:ext cx="10058400" cy="4558937"/>
          </a:xfrm>
        </p:spPr>
        <p:txBody>
          <a:bodyPr>
            <a:normAutofit/>
          </a:bodyPr>
          <a:lstStyle/>
          <a:p>
            <a:r>
              <a:rPr kumimoji="1" lang="ja-JP" altLang="en-US" sz="2800" dirty="0"/>
              <a:t>有料</a:t>
            </a:r>
            <a:r>
              <a:rPr kumimoji="1" lang="en-US" altLang="ja-JP" sz="2800" dirty="0"/>
              <a:t>API</a:t>
            </a:r>
            <a:r>
              <a:rPr lang="ja-JP" altLang="en-US" sz="2800" dirty="0"/>
              <a:t>利用の難しさ</a:t>
            </a:r>
            <a:endParaRPr lang="en-US" altLang="ja-JP" sz="2800" dirty="0"/>
          </a:p>
          <a:p>
            <a:pPr marL="0" indent="0">
              <a:buNone/>
            </a:pPr>
            <a:r>
              <a:rPr kumimoji="1" lang="ja-JP" altLang="en-US" sz="2400" dirty="0"/>
              <a:t>    早い段階から</a:t>
            </a:r>
            <a:r>
              <a:rPr kumimoji="1" lang="en-US" altLang="ja-JP" sz="2400" dirty="0"/>
              <a:t>API</a:t>
            </a:r>
            <a:r>
              <a:rPr kumimoji="1" lang="ja-JP" altLang="en-US" sz="2400" dirty="0"/>
              <a:t>利用を検討していたが結果的にはサンプルデータを</a:t>
            </a:r>
            <a:endParaRPr kumimoji="1" lang="en-US" altLang="ja-JP" sz="2400" dirty="0"/>
          </a:p>
          <a:p>
            <a:pPr marL="0" indent="0">
              <a:buNone/>
            </a:pPr>
            <a:r>
              <a:rPr lang="en-US" altLang="ja-JP" sz="2400" dirty="0"/>
              <a:t>    </a:t>
            </a:r>
            <a:r>
              <a:rPr kumimoji="1" lang="ja-JP" altLang="en-US" sz="2400" dirty="0"/>
              <a:t>利用する形になった</a:t>
            </a:r>
          </a:p>
          <a:p>
            <a:endParaRPr lang="en-US" altLang="ja-JP" sz="2800" dirty="0"/>
          </a:p>
          <a:p>
            <a:r>
              <a:rPr lang="ja-JP" altLang="en-US" sz="2800" dirty="0"/>
              <a:t>チーム外の人にアプリ概要を伝えることの大変さ</a:t>
            </a:r>
            <a:endParaRPr lang="en-US" altLang="ja-JP" sz="2800" dirty="0"/>
          </a:p>
          <a:p>
            <a:pPr marL="0" indent="0">
              <a:buNone/>
            </a:pPr>
            <a:r>
              <a:rPr kumimoji="1" lang="ja-JP" altLang="en-US" sz="2400" dirty="0"/>
              <a:t>    チーム内では共通の認識があるが、第三者にアプリの全体像を</a:t>
            </a:r>
            <a:endParaRPr kumimoji="1" lang="en-US" altLang="ja-JP" sz="2400" dirty="0"/>
          </a:p>
          <a:p>
            <a:pPr marL="0" indent="0">
              <a:buNone/>
            </a:pPr>
            <a:r>
              <a:rPr lang="en-US" altLang="ja-JP" sz="2400" dirty="0"/>
              <a:t>    1</a:t>
            </a:r>
            <a:r>
              <a:rPr lang="ja-JP" altLang="en-US" sz="2400" dirty="0"/>
              <a:t>から理解してもらうためには図やビジュアルを活用した効果的な</a:t>
            </a:r>
            <a:endParaRPr lang="en-US" altLang="ja-JP" sz="2400" dirty="0"/>
          </a:p>
          <a:p>
            <a:pPr marL="0" indent="0">
              <a:buNone/>
            </a:pPr>
            <a:r>
              <a:rPr kumimoji="1" lang="en-US" altLang="ja-JP" sz="2400" dirty="0"/>
              <a:t>    </a:t>
            </a:r>
            <a:r>
              <a:rPr kumimoji="1" lang="ja-JP" altLang="en-US" sz="2400" dirty="0"/>
              <a:t>説明が必要だと実感した</a:t>
            </a:r>
            <a:endParaRPr kumimoji="1" lang="en-US" altLang="ja-JP" sz="2400" dirty="0"/>
          </a:p>
        </p:txBody>
      </p:sp>
    </p:spTree>
    <p:extLst>
      <p:ext uri="{BB962C8B-B14F-4D97-AF65-F5344CB8AC3E}">
        <p14:creationId xmlns:p14="http://schemas.microsoft.com/office/powerpoint/2010/main" val="840372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2258-DB56-1BBE-02A6-1A3A7B5264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8A3D6E-1C64-25C2-A907-269C6CD5926A}"/>
              </a:ext>
            </a:extLst>
          </p:cNvPr>
          <p:cNvSpPr>
            <a:spLocks noGrp="1"/>
          </p:cNvSpPr>
          <p:nvPr>
            <p:ph type="title"/>
          </p:nvPr>
        </p:nvSpPr>
        <p:spPr/>
        <p:txBody>
          <a:bodyPr/>
          <a:lstStyle/>
          <a:p>
            <a:r>
              <a:rPr kumimoji="1" lang="ja-JP" altLang="en-US" dirty="0"/>
              <a:t>開発を通じて実感したこと</a:t>
            </a:r>
          </a:p>
        </p:txBody>
      </p:sp>
      <p:sp>
        <p:nvSpPr>
          <p:cNvPr id="3" name="コンテンツ プレースホルダー 2">
            <a:extLst>
              <a:ext uri="{FF2B5EF4-FFF2-40B4-BE49-F238E27FC236}">
                <a16:creationId xmlns:a16="http://schemas.microsoft.com/office/drawing/2014/main" id="{86DD0C8C-4FF7-4465-8E83-A0AF5C018803}"/>
              </a:ext>
            </a:extLst>
          </p:cNvPr>
          <p:cNvSpPr>
            <a:spLocks noGrp="1"/>
          </p:cNvSpPr>
          <p:nvPr>
            <p:ph idx="1"/>
          </p:nvPr>
        </p:nvSpPr>
        <p:spPr/>
        <p:txBody>
          <a:bodyPr>
            <a:noAutofit/>
          </a:bodyPr>
          <a:lstStyle/>
          <a:p>
            <a:r>
              <a:rPr lang="ja-JP" altLang="en-US" sz="2800" dirty="0"/>
              <a:t>チームメンバー間で想定しているもののズレ</a:t>
            </a:r>
            <a:endParaRPr lang="en-US" altLang="ja-JP" sz="2800" dirty="0"/>
          </a:p>
          <a:p>
            <a:pPr marL="0" indent="0">
              <a:buNone/>
            </a:pPr>
            <a:r>
              <a:rPr lang="en-US" altLang="ja-JP" sz="2400" dirty="0"/>
              <a:t>    </a:t>
            </a:r>
            <a:r>
              <a:rPr lang="ja-JP" altLang="en-US" sz="2400" dirty="0"/>
              <a:t>先入観を捨てて勘違いが起きていないか、話し合いを通じて</a:t>
            </a:r>
            <a:endParaRPr lang="en-US" altLang="ja-JP" sz="2400" dirty="0"/>
          </a:p>
          <a:p>
            <a:pPr marL="0" indent="0">
              <a:buNone/>
            </a:pPr>
            <a:r>
              <a:rPr lang="en-US" altLang="ja-JP" sz="2400" dirty="0"/>
              <a:t>    </a:t>
            </a:r>
            <a:r>
              <a:rPr lang="ja-JP" altLang="en-US" sz="2400" dirty="0"/>
              <a:t>確かめる必要がある</a:t>
            </a:r>
            <a:endParaRPr lang="en-US" altLang="ja-JP" sz="2400" dirty="0"/>
          </a:p>
          <a:p>
            <a:pPr marL="0" indent="0">
              <a:buNone/>
            </a:pPr>
            <a:r>
              <a:rPr lang="en-US" altLang="ja-JP" sz="2400" dirty="0"/>
              <a:t>    </a:t>
            </a:r>
            <a:r>
              <a:rPr lang="ja-JP" altLang="en-US" sz="2400" dirty="0"/>
              <a:t>少しでもメンバーとの認識に違和感があれば遠慮なく言葉に</a:t>
            </a:r>
            <a:endParaRPr lang="en-US" altLang="ja-JP" sz="2400" dirty="0"/>
          </a:p>
          <a:p>
            <a:pPr marL="0" indent="0">
              <a:buNone/>
            </a:pPr>
            <a:r>
              <a:rPr lang="ja-JP" altLang="en-US" sz="2400" dirty="0"/>
              <a:t>    する必要がある</a:t>
            </a:r>
            <a:endParaRPr lang="en-US" altLang="ja-JP" sz="2400" dirty="0"/>
          </a:p>
          <a:p>
            <a:pPr marL="0" indent="0">
              <a:buNone/>
            </a:pPr>
            <a:endParaRPr kumimoji="1" lang="en-US" altLang="ja-JP" sz="2400" dirty="0"/>
          </a:p>
          <a:p>
            <a:r>
              <a:rPr lang="ja-JP" altLang="en-US" sz="2800" dirty="0"/>
              <a:t>メンバーごとに持っているスキル、得意不得意が異なる</a:t>
            </a:r>
            <a:endParaRPr lang="en-US" altLang="ja-JP" sz="2800" dirty="0"/>
          </a:p>
          <a:p>
            <a:pPr marL="0" indent="0">
              <a:buNone/>
            </a:pPr>
            <a:r>
              <a:rPr lang="ja-JP" altLang="en-US" sz="2800" dirty="0"/>
              <a:t>    </a:t>
            </a:r>
            <a:r>
              <a:rPr lang="ja-JP" altLang="en-US" sz="2400" dirty="0"/>
              <a:t>それぞれの強みを生かせるタスクの割り振りが必要</a:t>
            </a:r>
            <a:endParaRPr kumimoji="1" lang="en-US" altLang="ja-JP" sz="2400" dirty="0"/>
          </a:p>
          <a:p>
            <a:endParaRPr kumimoji="1" lang="ja-JP" altLang="en-US" sz="2800" dirty="0"/>
          </a:p>
        </p:txBody>
      </p:sp>
    </p:spTree>
    <p:extLst>
      <p:ext uri="{BB962C8B-B14F-4D97-AF65-F5344CB8AC3E}">
        <p14:creationId xmlns:p14="http://schemas.microsoft.com/office/powerpoint/2010/main" val="3186562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F0C29C-07AB-EAA6-8757-0EC3C8C80B0A}"/>
              </a:ext>
            </a:extLst>
          </p:cNvPr>
          <p:cNvSpPr>
            <a:spLocks noGrp="1"/>
          </p:cNvSpPr>
          <p:nvPr>
            <p:ph type="title"/>
          </p:nvPr>
        </p:nvSpPr>
        <p:spPr/>
        <p:txBody>
          <a:bodyPr/>
          <a:lstStyle/>
          <a:p>
            <a:r>
              <a:rPr kumimoji="1" lang="ja-JP" altLang="en-US" dirty="0"/>
              <a:t>今後の展望</a:t>
            </a:r>
          </a:p>
        </p:txBody>
      </p:sp>
      <p:sp>
        <p:nvSpPr>
          <p:cNvPr id="3" name="コンテンツ プレースホルダー 2">
            <a:extLst>
              <a:ext uri="{FF2B5EF4-FFF2-40B4-BE49-F238E27FC236}">
                <a16:creationId xmlns:a16="http://schemas.microsoft.com/office/drawing/2014/main" id="{9E86E18B-1A3E-FB32-5FA9-BE97B2F1E0F8}"/>
              </a:ext>
            </a:extLst>
          </p:cNvPr>
          <p:cNvSpPr>
            <a:spLocks noGrp="1"/>
          </p:cNvSpPr>
          <p:nvPr>
            <p:ph idx="1"/>
          </p:nvPr>
        </p:nvSpPr>
        <p:spPr/>
        <p:txBody>
          <a:bodyPr>
            <a:normAutofit/>
          </a:bodyPr>
          <a:lstStyle/>
          <a:p>
            <a:r>
              <a:rPr kumimoji="1" lang="ja-JP" altLang="en-US" sz="2800" dirty="0"/>
              <a:t>ドラッグ</a:t>
            </a:r>
            <a:r>
              <a:rPr kumimoji="1" lang="en-US" altLang="ja-JP" sz="2800" dirty="0"/>
              <a:t>&amp;</a:t>
            </a:r>
            <a:r>
              <a:rPr kumimoji="1" lang="ja-JP" altLang="en-US" sz="2800" dirty="0"/>
              <a:t>ドロップによる貯金</a:t>
            </a:r>
            <a:endParaRPr kumimoji="1" lang="en-US" altLang="ja-JP" sz="2800" dirty="0"/>
          </a:p>
          <a:p>
            <a:endParaRPr lang="en-US" altLang="ja-JP" sz="2800" dirty="0"/>
          </a:p>
          <a:p>
            <a:r>
              <a:rPr kumimoji="1" lang="ja-JP" altLang="en-US" sz="2800" dirty="0"/>
              <a:t>実際に</a:t>
            </a:r>
            <a:r>
              <a:rPr kumimoji="1" lang="en-US" altLang="ja-JP" sz="2800" dirty="0"/>
              <a:t>LINK API</a:t>
            </a:r>
            <a:r>
              <a:rPr lang="ja-JP" altLang="en-US" sz="2800" dirty="0"/>
              <a:t>で連携</a:t>
            </a:r>
            <a:endParaRPr lang="en-US" altLang="ja-JP" sz="2800" dirty="0"/>
          </a:p>
          <a:p>
            <a:endParaRPr kumimoji="1" lang="en-US" altLang="ja-JP" sz="2800" dirty="0"/>
          </a:p>
          <a:p>
            <a:r>
              <a:rPr lang="ja-JP" altLang="en-US" sz="2800" dirty="0"/>
              <a:t>他の動物でも貯金できるようにする</a:t>
            </a:r>
            <a:endParaRPr kumimoji="1" lang="ja-JP" altLang="en-US" sz="2800" dirty="0"/>
          </a:p>
        </p:txBody>
      </p:sp>
    </p:spTree>
    <p:extLst>
      <p:ext uri="{BB962C8B-B14F-4D97-AF65-F5344CB8AC3E}">
        <p14:creationId xmlns:p14="http://schemas.microsoft.com/office/powerpoint/2010/main" val="610373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9D2F9-9F83-8E32-761B-4C66B7FD84BC}"/>
              </a:ext>
            </a:extLst>
          </p:cNvPr>
          <p:cNvSpPr>
            <a:spLocks noGrp="1"/>
          </p:cNvSpPr>
          <p:nvPr>
            <p:ph type="title"/>
          </p:nvPr>
        </p:nvSpPr>
        <p:spPr/>
        <p:txBody>
          <a:bodyPr/>
          <a:lstStyle/>
          <a:p>
            <a:r>
              <a:rPr kumimoji="1" lang="ja-JP" altLang="en-US" sz="4800" dirty="0"/>
              <a:t>ご清聴ありがとうございました</a:t>
            </a:r>
          </a:p>
        </p:txBody>
      </p:sp>
      <p:sp>
        <p:nvSpPr>
          <p:cNvPr id="3" name="テキスト プレースホルダー 2">
            <a:extLst>
              <a:ext uri="{FF2B5EF4-FFF2-40B4-BE49-F238E27FC236}">
                <a16:creationId xmlns:a16="http://schemas.microsoft.com/office/drawing/2014/main" id="{12B260B4-4E18-3892-8334-84A15432AE5F}"/>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523644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シャボン">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{22A533CB-0E3D-463E-9946-BBDE372C2E0A}tf03457510</Template>
  <TotalTime>4781</TotalTime>
  <Words>1375</Words>
  <Application>Microsoft Office PowerPoint</Application>
  <PresentationFormat>ワイド画面</PresentationFormat>
  <Paragraphs>249</Paragraphs>
  <Slides>40</Slides>
  <Notes>10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40</vt:i4>
      </vt:variant>
    </vt:vector>
  </HeadingPairs>
  <TitlesOfParts>
    <vt:vector size="46" baseType="lpstr">
      <vt:lpstr>-apple-system</vt:lpstr>
      <vt:lpstr>gg sans</vt:lpstr>
      <vt:lpstr>游ゴシック</vt:lpstr>
      <vt:lpstr>Century Gothic</vt:lpstr>
      <vt:lpstr>Garamond</vt:lpstr>
      <vt:lpstr>シャボン</vt:lpstr>
      <vt:lpstr>成果発表</vt:lpstr>
      <vt:lpstr>アプリ名「こぶた貯金」</vt:lpstr>
      <vt:lpstr>貯金×育成</vt:lpstr>
      <vt:lpstr>こぶた貯金の特徴</vt:lpstr>
      <vt:lpstr>目次</vt:lpstr>
      <vt:lpstr>目次</vt:lpstr>
      <vt:lpstr>想定利用者</vt:lpstr>
      <vt:lpstr>想定利用状況</vt:lpstr>
      <vt:lpstr>目次</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アプリ概要</vt:lpstr>
      <vt:lpstr>目次</vt:lpstr>
      <vt:lpstr>アプリ実演</vt:lpstr>
      <vt:lpstr>目次</vt:lpstr>
      <vt:lpstr>リリース概要</vt:lpstr>
      <vt:lpstr>リリース概要</vt:lpstr>
      <vt:lpstr>リリース概要</vt:lpstr>
      <vt:lpstr>リリース概要</vt:lpstr>
      <vt:lpstr>目次</vt:lpstr>
      <vt:lpstr>開発を進める上で行った工夫</vt:lpstr>
      <vt:lpstr>開発を進める上で行った工夫</vt:lpstr>
      <vt:lpstr>開発を進める上で行った工夫</vt:lpstr>
      <vt:lpstr>目次</vt:lpstr>
      <vt:lpstr>開発を通じて実感したこと</vt:lpstr>
      <vt:lpstr>開発を通じて実感したこと</vt:lpstr>
      <vt:lpstr>今後の展望</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あまね 郷原</dc:creator>
  <cp:lastModifiedBy>秀斗 殖栗</cp:lastModifiedBy>
  <cp:revision>10</cp:revision>
  <dcterms:created xsi:type="dcterms:W3CDTF">2025-01-14T15:02:02Z</dcterms:created>
  <dcterms:modified xsi:type="dcterms:W3CDTF">2025-01-31T15:23:54Z</dcterms:modified>
</cp:coreProperties>
</file>